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Urbanist Medium"/>
      <p:regular r:id="rId27"/>
      <p:bold r:id="rId28"/>
      <p:italic r:id="rId29"/>
      <p:boldItalic r:id="rId30"/>
    </p:embeddedFont>
    <p:embeddedFont>
      <p:font typeface="Urbanist SemiBold"/>
      <p:regular r:id="rId31"/>
      <p:bold r:id="rId32"/>
      <p:italic r:id="rId33"/>
      <p:boldItalic r:id="rId34"/>
    </p:embeddedFont>
    <p:embeddedFont>
      <p:font typeface="Urbanis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B02BA1-8D5E-4ECF-84B5-86BD1B334620}">
  <a:tblStyle styleId="{2FB02BA1-8D5E-4ECF-84B5-86BD1B33462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UrbanistMedium-bold.fntdata"/><Relationship Id="rId27" Type="http://schemas.openxmlformats.org/officeDocument/2006/relationships/font" Target="fonts/UrbanistMedium-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UrbanistMedium-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UrbanistSemiBold-regular.fntdata"/><Relationship Id="rId30" Type="http://schemas.openxmlformats.org/officeDocument/2006/relationships/font" Target="fonts/UrbanistMedium-boldItalic.fntdata"/><Relationship Id="rId11" Type="http://schemas.openxmlformats.org/officeDocument/2006/relationships/slide" Target="slides/slide4.xml"/><Relationship Id="rId33" Type="http://schemas.openxmlformats.org/officeDocument/2006/relationships/font" Target="fonts/UrbanistSemiBold-italic.fntdata"/><Relationship Id="rId10" Type="http://schemas.openxmlformats.org/officeDocument/2006/relationships/slide" Target="slides/slide3.xml"/><Relationship Id="rId32" Type="http://schemas.openxmlformats.org/officeDocument/2006/relationships/font" Target="fonts/UrbanistSemiBold-bold.fntdata"/><Relationship Id="rId13" Type="http://schemas.openxmlformats.org/officeDocument/2006/relationships/slide" Target="slides/slide6.xml"/><Relationship Id="rId35" Type="http://schemas.openxmlformats.org/officeDocument/2006/relationships/font" Target="fonts/Urbanist-regular.fntdata"/><Relationship Id="rId12" Type="http://schemas.openxmlformats.org/officeDocument/2006/relationships/slide" Target="slides/slide5.xml"/><Relationship Id="rId34" Type="http://schemas.openxmlformats.org/officeDocument/2006/relationships/font" Target="fonts/UrbanistSemiBold-boldItalic.fntdata"/><Relationship Id="rId15" Type="http://schemas.openxmlformats.org/officeDocument/2006/relationships/slide" Target="slides/slide8.xml"/><Relationship Id="rId37" Type="http://schemas.openxmlformats.org/officeDocument/2006/relationships/font" Target="fonts/Urbanist-italic.fntdata"/><Relationship Id="rId14" Type="http://schemas.openxmlformats.org/officeDocument/2006/relationships/slide" Target="slides/slide7.xml"/><Relationship Id="rId36" Type="http://schemas.openxmlformats.org/officeDocument/2006/relationships/font" Target="fonts/Urbanist-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Urbanist-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16dab65a295d37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16dab65a295d37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4bb0154c95f75d5f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h4bb0154c95f75d5f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he75a8439f9527d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he75a8439f9527d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When I pitched this idea, I remember being a new student trying to plan my degree</a:t>
            </a:r>
            <a:endParaRPr/>
          </a:p>
          <a:p>
            <a:pPr indent="-298450" lvl="0" marL="457200" rtl="0" algn="l">
              <a:spcBef>
                <a:spcPts val="0"/>
              </a:spcBef>
              <a:spcAft>
                <a:spcPts val="0"/>
              </a:spcAft>
              <a:buSzPts val="1100"/>
              <a:buChar char="-"/>
            </a:pPr>
            <a:r>
              <a:rPr lang="en"/>
              <a:t>Navigating endless resources and links</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rPr lang="en"/>
              <a:t>Once I accessed resources I realized the portal </a:t>
            </a:r>
            <a:r>
              <a:rPr lang="en"/>
              <a:t>being</a:t>
            </a:r>
            <a:r>
              <a:rPr lang="en"/>
              <a:t> generalized</a:t>
            </a:r>
            <a:endParaRPr/>
          </a:p>
          <a:p>
            <a:pPr indent="-298450" lvl="0" marL="457200" rtl="0" algn="l">
              <a:spcBef>
                <a:spcPts val="0"/>
              </a:spcBef>
              <a:spcAft>
                <a:spcPts val="0"/>
              </a:spcAft>
              <a:buSzPts val="1100"/>
              <a:buChar char="-"/>
            </a:pPr>
            <a:r>
              <a:rPr lang="en"/>
              <a:t>Which required clicking through multiple links to find answers about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Unique student situation</a:t>
            </a:r>
            <a:endParaRPr/>
          </a:p>
          <a:p>
            <a:pPr indent="-298450" lvl="1" marL="914400" rtl="0" algn="l">
              <a:spcBef>
                <a:spcPts val="0"/>
              </a:spcBef>
              <a:spcAft>
                <a:spcPts val="0"/>
              </a:spcAft>
              <a:buSzPts val="1100"/>
              <a:buChar char="-"/>
            </a:pPr>
            <a:r>
              <a:rPr lang="en"/>
              <a:t>I remember needing an excel sheet trying to plan my classes out</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While advisors are great</a:t>
            </a:r>
            <a:endParaRPr/>
          </a:p>
          <a:p>
            <a:pPr indent="-298450" lvl="1" marL="914400" rtl="0" algn="l">
              <a:spcBef>
                <a:spcPts val="0"/>
              </a:spcBef>
              <a:spcAft>
                <a:spcPts val="0"/>
              </a:spcAft>
              <a:buSzPts val="1100"/>
              <a:buChar char="-"/>
            </a:pPr>
            <a:r>
              <a:rPr lang="en"/>
              <a:t>My </a:t>
            </a:r>
            <a:r>
              <a:rPr lang="en"/>
              <a:t>schedule</a:t>
            </a:r>
            <a:r>
              <a:rPr lang="en"/>
              <a:t> didn’t always line up with advisors time</a:t>
            </a:r>
            <a:endParaRPr/>
          </a:p>
          <a:p>
            <a:pPr indent="-298450" lvl="1" marL="914400" rtl="0" algn="l">
              <a:spcBef>
                <a:spcPts val="0"/>
              </a:spcBef>
              <a:spcAft>
                <a:spcPts val="0"/>
              </a:spcAft>
              <a:buSzPts val="1100"/>
              <a:buChar char="-"/>
            </a:pPr>
            <a:r>
              <a:rPr lang="en"/>
              <a:t>I wish I had something to answer quick questions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he75a8439f9527d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he75a8439f9527d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Usable web interface should be created that allows users to submit questions and </a:t>
            </a:r>
            <a:r>
              <a:rPr lang="en"/>
              <a:t>receive</a:t>
            </a:r>
            <a:r>
              <a:rPr lang="en"/>
              <a:t> answers based on their advising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Create MSSE Dataset featuring courses prerequisites and class information and syllabi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Accurate information being provided by AI. Defining a scope that allows the chat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4bb0154c95f75d5f_3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h4bb0154c95f75d5f_3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h2df91d5698c735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h2df91d5698c735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h2df91d5698c7356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h2df91d5698c7356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2df91d5698c7356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h2df91d5698c7356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2df91d5698c7356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2df91d5698c7356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h2df91d5698c7356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h2df91d5698c7356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2674351156ccff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h2674351156ccff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he75a8439f9527d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he75a8439f9527d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Unfamiliar tech stack and </a:t>
            </a:r>
            <a:r>
              <a:rPr lang="en"/>
              <a:t>architecture</a:t>
            </a:r>
            <a:r>
              <a:rPr lang="en"/>
              <a:t>: Most of the team had no experience setting up a cloud deployment </a:t>
            </a:r>
            <a:r>
              <a:rPr lang="en"/>
              <a:t>environment or working with MCP tools and LLMs or the architecture that was required to make them work (like tooling layer, repository layer, etc.). This all had to be researched and learned as we were developing the application.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e75a8439f9527d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he75a8439f9527d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h4bb0154c95f75d5f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h4bb0154c95f75d5f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new features</a:t>
            </a:r>
            <a:endParaRPr/>
          </a:p>
          <a:p>
            <a:pPr indent="0" lvl="0" marL="0" rtl="0" algn="l">
              <a:spcBef>
                <a:spcPts val="0"/>
              </a:spcBef>
              <a:spcAft>
                <a:spcPts val="0"/>
              </a:spcAft>
              <a:buNone/>
            </a:pPr>
            <a:r>
              <a:rPr lang="en"/>
              <a:t>Improve performance</a:t>
            </a:r>
            <a:endParaRPr/>
          </a:p>
          <a:p>
            <a:pPr indent="0" lvl="0" marL="0" rtl="0" algn="l">
              <a:spcBef>
                <a:spcPts val="0"/>
              </a:spcBef>
              <a:spcAft>
                <a:spcPts val="0"/>
              </a:spcAft>
              <a:buNone/>
            </a:pPr>
            <a:r>
              <a:rPr lang="en"/>
              <a:t>Improve testing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h139e951acece0a9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h139e951acece0a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2d2d1f03502a7156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h2d2d1f03502a7156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16dab65a295d373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h16dab65a295d373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16dab65a295d3733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h16dab65a295d3733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h16dab65a295d3733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h16dab65a295d3733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drive.google.com/file/d/1B_2ruwDJrA70XpiSDxacWzE1cO1KUe-8/view" TargetMode="Externa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hyperlink" Target="http://drive.google.com/file/d/1pFfa5xcoCrRV9PJ1Gg34GyJse3qxW4UN/view"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hyperlink" Target="http://drive.google.com/file/d/1g8UyzvYPeijF2jJG08ybRWjiiq96gha4/view" TargetMode="External"/><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4.png"/><Relationship Id="rId6" Type="http://schemas.openxmlformats.org/officeDocument/2006/relationships/hyperlink" Target="http://drive.google.com/file/d/1jgFJ4fXyEcjUTFr7_Ta2kvbZx4EhRs5J/view" TargetMode="External"/><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6.png"/><Relationship Id="rId5" Type="http://schemas.openxmlformats.org/officeDocument/2006/relationships/image" Target="../media/image10.png"/><Relationship Id="rId6" Type="http://schemas.openxmlformats.org/officeDocument/2006/relationships/hyperlink" Target="http://drive.google.com/file/d/16cJguSLu3sscygelB0_jKMh6sTRQYSfk/view" TargetMode="External"/><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hyperlink" Target="http://drive.google.com/file/d/1wfpMlYDHPjE1Tz7Crd8z1KniI4rWhReg/view" TargetMode="Externa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 Id="rId3" Type="http://schemas.openxmlformats.org/officeDocument/2006/relationships/hyperlink" Target="http://drive.google.com/file/d/1LI68CRG6UVNh3kYeHbniy5_t_q-1Uh84/view"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 Id="rId3" Type="http://schemas.openxmlformats.org/officeDocument/2006/relationships/hyperlink" Target="http://drive.google.com/file/d/1cnMj1khKceMT1nF1ptpEY7jlbtxI_25h/view"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hyperlink" Target="http://drive.google.com/file/d/1_CpZOQytR__k10BcYaJe7agCKHi1wiZu/view"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 Id="rId3" Type="http://schemas.openxmlformats.org/officeDocument/2006/relationships/hyperlink" Target="http://drive.google.com/file/d/1xlzUpvfIjVl44gr1H52riKBpO2cBW1ZD/view" TargetMode="Externa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 Id="rId3" Type="http://schemas.openxmlformats.org/officeDocument/2006/relationships/hyperlink" Target="http://drive.google.com/file/d/18rmvDPIDSKyZ89f1uIRrHmd51g0r31gS/view" TargetMode="Externa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 Id="rId3" Type="http://schemas.openxmlformats.org/officeDocument/2006/relationships/hyperlink" Target="http://drive.google.com/file/d/1bXnos3VuCpFIQrQ_lTxaG1v9heQSzRLc/view" TargetMode="External"/><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 Id="rId3" Type="http://schemas.openxmlformats.org/officeDocument/2006/relationships/hyperlink" Target="http://drive.google.com/file/d/1zjuL6S3XvvTu5nSwhwC-K4zdc7F-sHPg/view" TargetMode="External"/><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23.png"/><Relationship Id="rId7"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hyperlink" Target="http://drive.google.com/file/d/1xxtGruAgiLVb9yiyaLyk3rXTp4W5U0Ib/view" TargetMode="External"/><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hyperlink" Target="http://drive.google.com/file/d/1XejqYwSDGf_4RZp5ZuL4UMq0Y8GSG3LP/view" TargetMode="Externa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 Id="rId3" Type="http://schemas.openxmlformats.org/officeDocument/2006/relationships/hyperlink" Target="http://drive.google.com/file/d/16F0cBJUGIsCn6_qZ6MGZgEhpUlEFgjeU/view" TargetMode="External"/><Relationship Id="rId4"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hyperlink" Target="http://drive.google.com/file/d/1wmFE7Xmum9_k-XL0Z2fS675RmHF0wPPc/view" TargetMode="External"/><Relationship Id="rId5"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drive.google.com/file/d/1p3uNm4wamz3RXks416F8Z-FHSZ49m_zt/view" TargetMode="Externa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hyperlink" Target="http://drive.google.com/file/d/1TPSpWOXKQDQi09_2lM-yTMi5bpna-WrX/view"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83" name="Google Shape;483;p53"/>
          <p:cNvSpPr/>
          <p:nvPr/>
        </p:nvSpPr>
        <p:spPr>
          <a:xfrm>
            <a:off x="1719175"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484" name="Google Shape;484;p53"/>
          <p:cNvGrpSpPr/>
          <p:nvPr/>
        </p:nvGrpSpPr>
        <p:grpSpPr>
          <a:xfrm>
            <a:off x="228591" y="3127350"/>
            <a:ext cx="233094" cy="233094"/>
            <a:chOff x="259788" y="1923155"/>
            <a:chExt cx="409800" cy="409800"/>
          </a:xfrm>
        </p:grpSpPr>
        <p:sp>
          <p:nvSpPr>
            <p:cNvPr id="485" name="Google Shape;485;p53"/>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86" name="Google Shape;486;p53"/>
            <p:cNvGrpSpPr/>
            <p:nvPr/>
          </p:nvGrpSpPr>
          <p:grpSpPr>
            <a:xfrm>
              <a:off x="362088" y="2093825"/>
              <a:ext cx="205200" cy="102600"/>
              <a:chOff x="498725" y="2069800"/>
              <a:chExt cx="205200" cy="102600"/>
            </a:xfrm>
          </p:grpSpPr>
          <p:cxnSp>
            <p:nvCxnSpPr>
              <p:cNvPr id="487" name="Google Shape;487;p53"/>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53"/>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89" name="Google Shape;489;p53"/>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CourseCompass</a:t>
            </a:r>
            <a:r>
              <a:rPr lang="en">
                <a:solidFill>
                  <a:schemeClr val="lt1"/>
                </a:solidFill>
              </a:rPr>
              <a:t> Final Presentation</a:t>
            </a:r>
            <a:endParaRPr>
              <a:solidFill>
                <a:schemeClr val="lt1"/>
              </a:solidFill>
            </a:endParaRPr>
          </a:p>
        </p:txBody>
      </p:sp>
      <p:sp>
        <p:nvSpPr>
          <p:cNvPr id="490" name="Google Shape;490;p53"/>
          <p:cNvSpPr txBox="1"/>
          <p:nvPr>
            <p:ph idx="1" type="subTitle"/>
          </p:nvPr>
        </p:nvSpPr>
        <p:spPr>
          <a:xfrm>
            <a:off x="228600" y="173895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Team Production Ready</a:t>
            </a:r>
            <a:endParaRPr>
              <a:solidFill>
                <a:schemeClr val="lt1"/>
              </a:solidFill>
              <a:latin typeface="Urbanist Medium"/>
              <a:ea typeface="Urbanist Medium"/>
              <a:cs typeface="Urbanist Medium"/>
              <a:sym typeface="Urbanist Medium"/>
            </a:endParaRPr>
          </a:p>
        </p:txBody>
      </p:sp>
      <p:sp>
        <p:nvSpPr>
          <p:cNvPr id="491" name="Google Shape;491;p53"/>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Euan Canoy</a:t>
            </a:r>
            <a:endParaRPr/>
          </a:p>
        </p:txBody>
      </p:sp>
      <p:sp>
        <p:nvSpPr>
          <p:cNvPr id="492" name="Google Shape;492;p53"/>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Preston Davis</a:t>
            </a:r>
            <a:endParaRPr/>
          </a:p>
        </p:txBody>
      </p:sp>
      <p:sp>
        <p:nvSpPr>
          <p:cNvPr id="493" name="Google Shape;493;p53"/>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MSSE 692</a:t>
            </a:r>
            <a:r>
              <a:rPr lang="en"/>
              <a:t> /  October 18, 2026</a:t>
            </a:r>
            <a:endParaRPr/>
          </a:p>
          <a:p>
            <a:pPr indent="0" lvl="0" marL="0" rtl="0" algn="l">
              <a:spcBef>
                <a:spcPts val="0"/>
              </a:spcBef>
              <a:spcAft>
                <a:spcPts val="0"/>
              </a:spcAft>
              <a:buNone/>
            </a:pPr>
            <a:r>
              <a:t/>
            </a:r>
            <a:endParaRPr/>
          </a:p>
        </p:txBody>
      </p:sp>
      <p:sp>
        <p:nvSpPr>
          <p:cNvPr id="494" name="Google Shape;494;p53"/>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
        <p:nvSpPr>
          <p:cNvPr id="495" name="Google Shape;495;p53"/>
          <p:cNvSpPr/>
          <p:nvPr/>
        </p:nvSpPr>
        <p:spPr>
          <a:xfrm>
            <a:off x="3275675"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96" name="Google Shape;496;p53"/>
          <p:cNvSpPr txBox="1"/>
          <p:nvPr>
            <p:ph idx="6" type="subTitle"/>
          </p:nvPr>
        </p:nvSpPr>
        <p:spPr>
          <a:xfrm>
            <a:off x="33428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Nhi La</a:t>
            </a:r>
            <a:endParaRPr/>
          </a:p>
        </p:txBody>
      </p:sp>
      <p:sp>
        <p:nvSpPr>
          <p:cNvPr id="497" name="Google Shape;497;p53"/>
          <p:cNvSpPr/>
          <p:nvPr/>
        </p:nvSpPr>
        <p:spPr>
          <a:xfrm>
            <a:off x="195125" y="4760725"/>
            <a:ext cx="5249100" cy="2286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rgbClr val="000000"/>
              </a:highlight>
              <a:latin typeface="Urbanist"/>
              <a:ea typeface="Urbanist"/>
              <a:cs typeface="Urbanist"/>
              <a:sym typeface="Urbanist"/>
            </a:endParaRPr>
          </a:p>
        </p:txBody>
      </p:sp>
      <p:pic>
        <p:nvPicPr>
          <p:cNvPr id="498" name="Google Shape;498;p53" title="s1_intro_8w1_audio.mp3">
            <a:hlinkClick r:id="rId3"/>
          </p:cNvPr>
          <p:cNvPicPr preferRelativeResize="0"/>
          <p:nvPr/>
        </p:nvPicPr>
        <p:blipFill>
          <a:blip r:embed="rId4">
            <a:alphaModFix/>
          </a:blip>
          <a:stretch>
            <a:fillRect/>
          </a:stretch>
        </p:blipFill>
        <p:spPr>
          <a:xfrm>
            <a:off x="14250" y="4697975"/>
            <a:ext cx="428688" cy="4286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4"/>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04" name="Google Shape;504;p54"/>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Agenda</a:t>
            </a:r>
            <a:endParaRPr/>
          </a:p>
        </p:txBody>
      </p:sp>
      <p:sp>
        <p:nvSpPr>
          <p:cNvPr id="505" name="Google Shape;505;p54"/>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506" name="Google Shape;506;p54"/>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507" name="Google Shape;507;p54"/>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508" name="Google Shape;508;p54"/>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09" name="Google Shape;509;p54"/>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Problems and Proposed Solution</a:t>
            </a:r>
            <a:endParaRPr/>
          </a:p>
        </p:txBody>
      </p:sp>
      <p:sp>
        <p:nvSpPr>
          <p:cNvPr id="510" name="Google Shape;510;p54"/>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Architecture/Design/Tech Stack</a:t>
            </a:r>
            <a:endParaRPr/>
          </a:p>
        </p:txBody>
      </p:sp>
      <p:sp>
        <p:nvSpPr>
          <p:cNvPr id="511" name="Google Shape;511;p54"/>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Demo</a:t>
            </a:r>
            <a:endParaRPr/>
          </a:p>
          <a:p>
            <a:pPr indent="0" lvl="0" marL="0" rtl="0" algn="l">
              <a:spcBef>
                <a:spcPts val="0"/>
              </a:spcBef>
              <a:spcAft>
                <a:spcPts val="0"/>
              </a:spcAft>
              <a:buNone/>
            </a:pPr>
            <a:r>
              <a:t/>
            </a:r>
            <a:endParaRPr/>
          </a:p>
        </p:txBody>
      </p:sp>
      <p:sp>
        <p:nvSpPr>
          <p:cNvPr id="512" name="Google Shape;512;p54"/>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Challenges and Lessons Learned</a:t>
            </a:r>
            <a:endParaRPr/>
          </a:p>
          <a:p>
            <a:pPr indent="0" lvl="0" marL="0" rtl="0" algn="l">
              <a:spcBef>
                <a:spcPts val="0"/>
              </a:spcBef>
              <a:spcAft>
                <a:spcPts val="0"/>
              </a:spcAft>
              <a:buNone/>
            </a:pPr>
            <a:r>
              <a:t/>
            </a:r>
            <a:endParaRPr/>
          </a:p>
        </p:txBody>
      </p:sp>
      <p:sp>
        <p:nvSpPr>
          <p:cNvPr id="513" name="Google Shape;513;p54"/>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Next Steps</a:t>
            </a:r>
            <a:endParaRPr/>
          </a:p>
          <a:p>
            <a:pPr indent="0" lvl="0" marL="0" rtl="0" algn="l">
              <a:spcBef>
                <a:spcPts val="0"/>
              </a:spcBef>
              <a:spcAft>
                <a:spcPts val="0"/>
              </a:spcAft>
              <a:buNone/>
            </a:pPr>
            <a:r>
              <a:t/>
            </a:r>
            <a:endParaRPr/>
          </a:p>
        </p:txBody>
      </p:sp>
      <p:pic>
        <p:nvPicPr>
          <p:cNvPr id="514" name="Google Shape;514;p54" title="s2_agenda_8w1_audio.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Generalized portal</a:t>
            </a:r>
            <a:endParaRPr/>
          </a:p>
        </p:txBody>
      </p:sp>
      <p:sp>
        <p:nvSpPr>
          <p:cNvPr id="520" name="Google Shape;520;p5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Unique student situations</a:t>
            </a:r>
            <a:endParaRPr/>
          </a:p>
        </p:txBody>
      </p:sp>
      <p:sp>
        <p:nvSpPr>
          <p:cNvPr id="521" name="Google Shape;521;p5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Navigating endless resources</a:t>
            </a:r>
            <a:endParaRPr/>
          </a:p>
        </p:txBody>
      </p:sp>
      <p:sp>
        <p:nvSpPr>
          <p:cNvPr id="522" name="Google Shape;522;p5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Accessibility to quick answers</a:t>
            </a:r>
            <a:endParaRPr/>
          </a:p>
        </p:txBody>
      </p:sp>
      <p:sp>
        <p:nvSpPr>
          <p:cNvPr id="523" name="Google Shape;523;p55"/>
          <p:cNvSpPr txBox="1"/>
          <p:nvPr>
            <p:ph idx="1" type="body"/>
          </p:nvPr>
        </p:nvSpPr>
        <p:spPr>
          <a:xfrm>
            <a:off x="366725" y="1759093"/>
            <a:ext cx="3838500" cy="4002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t/>
            </a:r>
            <a:endParaRPr/>
          </a:p>
        </p:txBody>
      </p:sp>
      <p:sp>
        <p:nvSpPr>
          <p:cNvPr id="524" name="Google Shape;524;p5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Problems Identified</a:t>
            </a:r>
            <a:endParaRPr/>
          </a:p>
        </p:txBody>
      </p:sp>
      <p:pic>
        <p:nvPicPr>
          <p:cNvPr id="528" name="Google Shape;528;p55" title="Screenshot 2026-10-15 at 4.41.51 PM.png"/>
          <p:cNvPicPr preferRelativeResize="0"/>
          <p:nvPr/>
        </p:nvPicPr>
        <p:blipFill>
          <a:blip r:embed="rId3">
            <a:alphaModFix/>
          </a:blip>
          <a:stretch>
            <a:fillRect/>
          </a:stretch>
        </p:blipFill>
        <p:spPr>
          <a:xfrm>
            <a:off x="5609843" y="1962051"/>
            <a:ext cx="2220518" cy="1219401"/>
          </a:xfrm>
          <a:prstGeom prst="rect">
            <a:avLst/>
          </a:prstGeom>
          <a:noFill/>
          <a:ln>
            <a:noFill/>
          </a:ln>
        </p:spPr>
      </p:pic>
      <p:pic>
        <p:nvPicPr>
          <p:cNvPr id="529" name="Google Shape;529;p55" title="Screenshot 2026-10-15 at 4.47.08 PM.png"/>
          <p:cNvPicPr preferRelativeResize="0"/>
          <p:nvPr/>
        </p:nvPicPr>
        <p:blipFill>
          <a:blip r:embed="rId4">
            <a:alphaModFix/>
          </a:blip>
          <a:stretch>
            <a:fillRect/>
          </a:stretch>
        </p:blipFill>
        <p:spPr>
          <a:xfrm>
            <a:off x="1076751" y="2024505"/>
            <a:ext cx="1873500" cy="1219398"/>
          </a:xfrm>
          <a:prstGeom prst="rect">
            <a:avLst/>
          </a:prstGeom>
          <a:noFill/>
          <a:ln>
            <a:noFill/>
          </a:ln>
        </p:spPr>
      </p:pic>
      <p:pic>
        <p:nvPicPr>
          <p:cNvPr id="530" name="Google Shape;530;p55" title="icon-quick-answers.png"/>
          <p:cNvPicPr preferRelativeResize="0"/>
          <p:nvPr/>
        </p:nvPicPr>
        <p:blipFill>
          <a:blip r:embed="rId5">
            <a:alphaModFix/>
          </a:blip>
          <a:stretch>
            <a:fillRect/>
          </a:stretch>
        </p:blipFill>
        <p:spPr>
          <a:xfrm>
            <a:off x="6076175" y="3855650"/>
            <a:ext cx="1287850" cy="1287850"/>
          </a:xfrm>
          <a:prstGeom prst="rect">
            <a:avLst/>
          </a:prstGeom>
          <a:noFill/>
          <a:ln>
            <a:noFill/>
          </a:ln>
        </p:spPr>
      </p:pic>
      <p:pic>
        <p:nvPicPr>
          <p:cNvPr id="531" name="Google Shape;531;p55" title="icon-unique-student-situations.png"/>
          <p:cNvPicPr preferRelativeResize="0"/>
          <p:nvPr/>
        </p:nvPicPr>
        <p:blipFill>
          <a:blip r:embed="rId6">
            <a:alphaModFix/>
          </a:blip>
          <a:stretch>
            <a:fillRect/>
          </a:stretch>
        </p:blipFill>
        <p:spPr>
          <a:xfrm>
            <a:off x="1264044" y="3594350"/>
            <a:ext cx="1425626" cy="1425600"/>
          </a:xfrm>
          <a:prstGeom prst="rect">
            <a:avLst/>
          </a:prstGeom>
          <a:noFill/>
          <a:ln>
            <a:noFill/>
          </a:ln>
        </p:spPr>
      </p:pic>
      <p:pic>
        <p:nvPicPr>
          <p:cNvPr id="532" name="Google Shape;532;p55" title="s3_problems_8w1_audio.mp3">
            <a:hlinkClick r:id="rId7"/>
          </p:cNvPr>
          <p:cNvPicPr preferRelativeResize="0"/>
          <p:nvPr/>
        </p:nvPicPr>
        <p:blipFill>
          <a:blip r:embed="rId8">
            <a:alphaModFix/>
          </a:blip>
          <a:stretch>
            <a:fillRect/>
          </a:stretch>
        </p:blipFill>
        <p:spPr>
          <a:xfrm>
            <a:off x="14250" y="4697975"/>
            <a:ext cx="428688" cy="4286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6"/>
          <p:cNvSpPr txBox="1"/>
          <p:nvPr>
            <p:ph idx="1" type="body"/>
          </p:nvPr>
        </p:nvSpPr>
        <p:spPr>
          <a:xfrm>
            <a:off x="311700" y="3911700"/>
            <a:ext cx="2627100" cy="369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t/>
            </a:r>
            <a:endParaRPr/>
          </a:p>
        </p:txBody>
      </p:sp>
      <p:sp>
        <p:nvSpPr>
          <p:cNvPr id="538" name="Google Shape;538;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MSSE Dataset</a:t>
            </a:r>
            <a:endParaRPr/>
          </a:p>
        </p:txBody>
      </p:sp>
      <p:pic>
        <p:nvPicPr>
          <p:cNvPr id="541" name="Google Shape;541;p56" title="Screenshot 2026-10-15 at 5.03.28 PM.png"/>
          <p:cNvPicPr preferRelativeResize="0"/>
          <p:nvPr>
            <p:ph idx="2" type="pic"/>
          </p:nvPr>
        </p:nvPicPr>
        <p:blipFill rotWithShape="1">
          <a:blip r:embed="rId3">
            <a:alphaModFix/>
          </a:blip>
          <a:srcRect b="0" l="13883" r="13883" t="0"/>
          <a:stretch/>
        </p:blipFill>
        <p:spPr>
          <a:xfrm>
            <a:off x="6205225" y="1128325"/>
            <a:ext cx="2627098" cy="2273101"/>
          </a:xfrm>
          <a:prstGeom prst="rect">
            <a:avLst/>
          </a:prstGeom>
        </p:spPr>
      </p:pic>
      <p:pic>
        <p:nvPicPr>
          <p:cNvPr id="542" name="Google Shape;542;p56" title="Screenshot 2026-10-15 at 4.59.31 PM.png"/>
          <p:cNvPicPr preferRelativeResize="0"/>
          <p:nvPr>
            <p:ph idx="3" type="pic"/>
          </p:nvPr>
        </p:nvPicPr>
        <p:blipFill rotWithShape="1">
          <a:blip r:embed="rId4">
            <a:alphaModFix/>
          </a:blip>
          <a:srcRect b="0" l="14056" r="14048" t="0"/>
          <a:stretch/>
        </p:blipFill>
        <p:spPr>
          <a:xfrm>
            <a:off x="311725" y="1128325"/>
            <a:ext cx="2627098" cy="2273099"/>
          </a:xfrm>
          <a:prstGeom prst="rect">
            <a:avLst/>
          </a:prstGeom>
        </p:spPr>
      </p:pic>
      <p:pic>
        <p:nvPicPr>
          <p:cNvPr id="543" name="Google Shape;543;p56" title="Screenshot 2026-10-15 at 5.02.22 PM.png"/>
          <p:cNvPicPr preferRelativeResize="0"/>
          <p:nvPr>
            <p:ph idx="5" type="pic"/>
          </p:nvPr>
        </p:nvPicPr>
        <p:blipFill rotWithShape="1">
          <a:blip r:embed="rId5">
            <a:alphaModFix/>
          </a:blip>
          <a:srcRect b="8982" l="0" r="0" t="8990"/>
          <a:stretch/>
        </p:blipFill>
        <p:spPr>
          <a:xfrm>
            <a:off x="3255250" y="1128325"/>
            <a:ext cx="2627100" cy="2273100"/>
          </a:xfrm>
          <a:prstGeom prst="rect">
            <a:avLst/>
          </a:prstGeom>
        </p:spPr>
      </p:pic>
      <p:sp>
        <p:nvSpPr>
          <p:cNvPr id="544" name="Google Shape;544;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Solution - CourseCompass AI chatbot</a:t>
            </a:r>
            <a:endParaRPr/>
          </a:p>
        </p:txBody>
      </p:sp>
      <p:sp>
        <p:nvSpPr>
          <p:cNvPr id="545" name="Google Shape;545;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 Interface</a:t>
            </a:r>
            <a:endParaRPr/>
          </a:p>
        </p:txBody>
      </p:sp>
      <p:sp>
        <p:nvSpPr>
          <p:cNvPr id="546" name="Google Shape;546;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Accurate</a:t>
            </a:r>
            <a:endParaRPr/>
          </a:p>
        </p:txBody>
      </p:sp>
      <p:pic>
        <p:nvPicPr>
          <p:cNvPr id="547" name="Google Shape;547;p56" title="s4_solution_8w1_audio.mp3">
            <a:hlinkClick r:id="rId6"/>
          </p:cNvPr>
          <p:cNvPicPr preferRelativeResize="0"/>
          <p:nvPr/>
        </p:nvPicPr>
        <p:blipFill>
          <a:blip r:embed="rId7">
            <a:alphaModFix/>
          </a:blip>
          <a:stretch>
            <a:fillRect/>
          </a:stretch>
        </p:blipFill>
        <p:spPr>
          <a:xfrm>
            <a:off x="0" y="4683725"/>
            <a:ext cx="45720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7"/>
          <p:cNvSpPr txBox="1"/>
          <p:nvPr>
            <p:ph idx="1" type="body"/>
          </p:nvPr>
        </p:nvSpPr>
        <p:spPr>
          <a:xfrm>
            <a:off x="311700" y="3911700"/>
            <a:ext cx="2627100" cy="369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t/>
            </a:r>
            <a:endParaRPr/>
          </a:p>
        </p:txBody>
      </p:sp>
      <p:pic>
        <p:nvPicPr>
          <p:cNvPr id="553" name="Google Shape;553;p57" title="who-3-resources.png"/>
          <p:cNvPicPr preferRelativeResize="0"/>
          <p:nvPr>
            <p:ph idx="2" type="pic"/>
          </p:nvPr>
        </p:nvPicPr>
        <p:blipFill rotWithShape="1">
          <a:blip r:embed="rId3">
            <a:alphaModFix/>
          </a:blip>
          <a:srcRect b="6732" l="0" r="0" t="6741"/>
          <a:stretch/>
        </p:blipFill>
        <p:spPr>
          <a:xfrm>
            <a:off x="6205225" y="1128325"/>
            <a:ext cx="2627100" cy="2273100"/>
          </a:xfrm>
          <a:prstGeom prst="rect">
            <a:avLst/>
          </a:prstGeom>
        </p:spPr>
      </p:pic>
      <p:pic>
        <p:nvPicPr>
          <p:cNvPr id="554" name="Google Shape;554;p57" title="who-1-students.png"/>
          <p:cNvPicPr preferRelativeResize="0"/>
          <p:nvPr>
            <p:ph idx="3" type="pic"/>
          </p:nvPr>
        </p:nvPicPr>
        <p:blipFill rotWithShape="1">
          <a:blip r:embed="rId4">
            <a:alphaModFix/>
          </a:blip>
          <a:srcRect b="6732" l="0" r="0" t="6741"/>
          <a:stretch/>
        </p:blipFill>
        <p:spPr>
          <a:xfrm>
            <a:off x="311725" y="1128325"/>
            <a:ext cx="2627100" cy="2273100"/>
          </a:xfrm>
          <a:prstGeom prst="rect">
            <a:avLst/>
          </a:prstGeom>
        </p:spPr>
      </p:pic>
      <p:sp>
        <p:nvSpPr>
          <p:cNvPr id="555" name="Google Shape;555;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56" name="Google Shape;556;p57" title="who-2-faculty-advisors.png"/>
          <p:cNvPicPr preferRelativeResize="0"/>
          <p:nvPr>
            <p:ph idx="5" type="pic"/>
          </p:nvPr>
        </p:nvPicPr>
        <p:blipFill rotWithShape="1">
          <a:blip r:embed="rId5">
            <a:alphaModFix/>
          </a:blip>
          <a:srcRect b="6732" l="0" r="0" t="6741"/>
          <a:stretch/>
        </p:blipFill>
        <p:spPr>
          <a:xfrm>
            <a:off x="3255250" y="1128325"/>
            <a:ext cx="2627100" cy="2273100"/>
          </a:xfrm>
          <a:prstGeom prst="rect">
            <a:avLst/>
          </a:prstGeom>
        </p:spPr>
      </p:pic>
      <p:sp>
        <p:nvSpPr>
          <p:cNvPr id="557" name="Google Shape;557;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Target Audience</a:t>
            </a:r>
            <a:endParaRPr/>
          </a:p>
          <a:p>
            <a:pPr indent="0" lvl="0" marL="0" rtl="0" algn="l">
              <a:spcBef>
                <a:spcPts val="0"/>
              </a:spcBef>
              <a:spcAft>
                <a:spcPts val="0"/>
              </a:spcAft>
              <a:buNone/>
            </a:pPr>
            <a:r>
              <a:t/>
            </a:r>
            <a:endParaRPr/>
          </a:p>
        </p:txBody>
      </p:sp>
      <p:sp>
        <p:nvSpPr>
          <p:cNvPr id="559" name="Google Shape;559;p5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a:t>
            </a:r>
            <a:endParaRPr/>
          </a:p>
        </p:txBody>
      </p:sp>
      <p:sp>
        <p:nvSpPr>
          <p:cNvPr id="560" name="Google Shape;560;p5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561" name="Google Shape;561;p5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Faculty and Advisors</a:t>
            </a:r>
            <a:endParaRPr/>
          </a:p>
        </p:txBody>
      </p:sp>
      <p:pic>
        <p:nvPicPr>
          <p:cNvPr id="562" name="Google Shape;562;p57" title="target_audience_8w1_audio.mp3">
            <a:hlinkClick r:id="rId6"/>
          </p:cNvPr>
          <p:cNvPicPr preferRelativeResize="0"/>
          <p:nvPr/>
        </p:nvPicPr>
        <p:blipFill>
          <a:blip r:embed="rId7">
            <a:alphaModFix/>
          </a:blip>
          <a:stretch>
            <a:fillRect/>
          </a:stretch>
        </p:blipFill>
        <p:spPr>
          <a:xfrm>
            <a:off x="0" y="4683725"/>
            <a:ext cx="4572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a:t>
            </a:r>
            <a:endParaRPr/>
          </a:p>
        </p:txBody>
      </p:sp>
      <p:pic>
        <p:nvPicPr>
          <p:cNvPr id="568" name="Google Shape;568;p58" title="Screenshot 2026-10-14 at 9.51.50 PM.png"/>
          <p:cNvPicPr preferRelativeResize="0"/>
          <p:nvPr/>
        </p:nvPicPr>
        <p:blipFill>
          <a:blip r:embed="rId3">
            <a:alphaModFix/>
          </a:blip>
          <a:stretch>
            <a:fillRect/>
          </a:stretch>
        </p:blipFill>
        <p:spPr>
          <a:xfrm>
            <a:off x="2103438" y="1190425"/>
            <a:ext cx="4937134" cy="3820975"/>
          </a:xfrm>
          <a:prstGeom prst="rect">
            <a:avLst/>
          </a:prstGeom>
          <a:noFill/>
          <a:ln>
            <a:noFill/>
          </a:ln>
        </p:spPr>
      </p:pic>
      <p:pic>
        <p:nvPicPr>
          <p:cNvPr id="569" name="Google Shape;569;p58" title="Architecture.mp3">
            <a:hlinkClick r:id="rId4"/>
          </p:cNvPr>
          <p:cNvPicPr preferRelativeResize="0"/>
          <p:nvPr/>
        </p:nvPicPr>
        <p:blipFill>
          <a:blip r:embed="rId5">
            <a:alphaModFix/>
          </a:blip>
          <a:stretch>
            <a:fillRect/>
          </a:stretch>
        </p:blipFill>
        <p:spPr>
          <a:xfrm>
            <a:off x="0" y="4683725"/>
            <a:ext cx="457200"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9"/>
          <p:cNvSpPr txBox="1"/>
          <p:nvPr>
            <p:ph idx="1" type="body"/>
          </p:nvPr>
        </p:nvSpPr>
        <p:spPr>
          <a:xfrm>
            <a:off x="311675" y="2025000"/>
            <a:ext cx="2627100" cy="12189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a:t>One FastAPI service with clear modules. Tools are in-process function calls, not a separate server, so there were fewer moving parts to build and test.</a:t>
            </a:r>
            <a:endParaRPr/>
          </a:p>
        </p:txBody>
      </p:sp>
      <p:sp>
        <p:nvSpPr>
          <p:cNvPr id="575" name="Google Shape;575;p59"/>
          <p:cNvSpPr txBox="1"/>
          <p:nvPr>
            <p:ph idx="4" type="body"/>
          </p:nvPr>
        </p:nvSpPr>
        <p:spPr>
          <a:xfrm>
            <a:off x="6205200" y="20250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Clerk tokens are verified in the backend. The student ID never goes to the model and never comes back in a response.</a:t>
            </a:r>
            <a:endParaRPr/>
          </a:p>
        </p:txBody>
      </p:sp>
      <p:sp>
        <p:nvSpPr>
          <p:cNvPr id="576" name="Google Shape;576;p59"/>
          <p:cNvSpPr txBox="1"/>
          <p:nvPr>
            <p:ph idx="6" type="body"/>
          </p:nvPr>
        </p:nvSpPr>
        <p:spPr>
          <a:xfrm>
            <a:off x="3255225" y="2025000"/>
            <a:ext cx="26271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Gemini chooses from a fixed list of tools and phrases the result. Every fact comes from our database, so it cannot invent course data.</a:t>
            </a:r>
            <a:endParaRPr/>
          </a:p>
        </p:txBody>
      </p:sp>
      <p:sp>
        <p:nvSpPr>
          <p:cNvPr id="577" name="Google Shape;577;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Decision</a:t>
            </a:r>
            <a:endParaRPr/>
          </a:p>
        </p:txBody>
      </p:sp>
      <p:sp>
        <p:nvSpPr>
          <p:cNvPr id="578" name="Google Shape;578;p59"/>
          <p:cNvSpPr txBox="1"/>
          <p:nvPr>
            <p:ph idx="7" type="subTitle"/>
          </p:nvPr>
        </p:nvSpPr>
        <p:spPr>
          <a:xfrm>
            <a:off x="311700" y="15438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Modular monolith</a:t>
            </a:r>
            <a:endParaRPr/>
          </a:p>
        </p:txBody>
      </p:sp>
      <p:sp>
        <p:nvSpPr>
          <p:cNvPr id="579" name="Google Shape;579;p59"/>
          <p:cNvSpPr txBox="1"/>
          <p:nvPr>
            <p:ph idx="8" type="subTitle"/>
          </p:nvPr>
        </p:nvSpPr>
        <p:spPr>
          <a:xfrm>
            <a:off x="6205200" y="15438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Identity stays on the server</a:t>
            </a:r>
            <a:endParaRPr/>
          </a:p>
        </p:txBody>
      </p:sp>
      <p:sp>
        <p:nvSpPr>
          <p:cNvPr id="580" name="Google Shape;580;p59"/>
          <p:cNvSpPr txBox="1"/>
          <p:nvPr>
            <p:ph idx="9" type="subTitle"/>
          </p:nvPr>
        </p:nvSpPr>
        <p:spPr>
          <a:xfrm>
            <a:off x="3255225" y="15438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model only picks a tool</a:t>
            </a:r>
            <a:endParaRPr/>
          </a:p>
        </p:txBody>
      </p:sp>
      <p:pic>
        <p:nvPicPr>
          <p:cNvPr id="581" name="Google Shape;581;p59" title="Design Decision.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0"/>
          <p:cNvSpPr txBox="1"/>
          <p:nvPr>
            <p:ph idx="1" type="body"/>
          </p:nvPr>
        </p:nvSpPr>
        <p:spPr>
          <a:xfrm>
            <a:off x="1056575" y="2024988"/>
            <a:ext cx="2734200" cy="7941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a:t>One database for course data and syllabus text, with an embedding column ready for vector search.</a:t>
            </a:r>
            <a:endParaRPr/>
          </a:p>
        </p:txBody>
      </p:sp>
      <p:sp>
        <p:nvSpPr>
          <p:cNvPr id="587" name="Google Shape;587;p60"/>
          <p:cNvSpPr txBox="1"/>
          <p:nvPr>
            <p:ph idx="4" type="body"/>
          </p:nvPr>
        </p:nvSpPr>
        <p:spPr>
          <a:xfrm>
            <a:off x="1056575" y="3725100"/>
            <a:ext cx="27342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Interfaces keep the database and LLM apart from the rest of the code. We swapped LLM providers in under 3 hours.</a:t>
            </a:r>
            <a:endParaRPr/>
          </a:p>
        </p:txBody>
      </p:sp>
      <p:sp>
        <p:nvSpPr>
          <p:cNvPr id="588" name="Google Shape;588;p60"/>
          <p:cNvSpPr txBox="1"/>
          <p:nvPr>
            <p:ph idx="6" type="body"/>
          </p:nvPr>
        </p:nvSpPr>
        <p:spPr>
          <a:xfrm>
            <a:off x="5229900" y="2025000"/>
            <a:ext cx="27342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Sixteen migration files plus a re-runnable seed. After our mid-project rebuild, the schema returned in minutes.</a:t>
            </a:r>
            <a:endParaRPr/>
          </a:p>
        </p:txBody>
      </p:sp>
      <p:sp>
        <p:nvSpPr>
          <p:cNvPr id="589" name="Google Shape;589;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Decision</a:t>
            </a:r>
            <a:endParaRPr/>
          </a:p>
        </p:txBody>
      </p:sp>
      <p:sp>
        <p:nvSpPr>
          <p:cNvPr id="590" name="Google Shape;590;p60"/>
          <p:cNvSpPr txBox="1"/>
          <p:nvPr>
            <p:ph idx="7" type="subTitle"/>
          </p:nvPr>
        </p:nvSpPr>
        <p:spPr>
          <a:xfrm>
            <a:off x="1056600" y="1543788"/>
            <a:ext cx="27342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PostgreSQL + pgvector</a:t>
            </a:r>
            <a:endParaRPr/>
          </a:p>
        </p:txBody>
      </p:sp>
      <p:sp>
        <p:nvSpPr>
          <p:cNvPr id="591" name="Google Shape;591;p60"/>
          <p:cNvSpPr txBox="1"/>
          <p:nvPr>
            <p:ph idx="8" type="subTitle"/>
          </p:nvPr>
        </p:nvSpPr>
        <p:spPr>
          <a:xfrm>
            <a:off x="1056575" y="3243900"/>
            <a:ext cx="2812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Repositories hide the vendors</a:t>
            </a:r>
            <a:endParaRPr/>
          </a:p>
        </p:txBody>
      </p:sp>
      <p:sp>
        <p:nvSpPr>
          <p:cNvPr id="592" name="Google Shape;592;p60"/>
          <p:cNvSpPr txBox="1"/>
          <p:nvPr>
            <p:ph idx="9" type="subTitle"/>
          </p:nvPr>
        </p:nvSpPr>
        <p:spPr>
          <a:xfrm>
            <a:off x="5229900" y="1543800"/>
            <a:ext cx="27342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Migrations build the schema</a:t>
            </a:r>
            <a:endParaRPr/>
          </a:p>
        </p:txBody>
      </p:sp>
      <p:sp>
        <p:nvSpPr>
          <p:cNvPr id="593" name="Google Shape;593;p60"/>
          <p:cNvSpPr txBox="1"/>
          <p:nvPr>
            <p:ph idx="4" type="body"/>
          </p:nvPr>
        </p:nvSpPr>
        <p:spPr>
          <a:xfrm>
            <a:off x="5229900" y="3725100"/>
            <a:ext cx="2734200" cy="10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'maintenance mode' query leaked tool output. Fixed with three layers: input rules, a phrasing skip, and a leak filter.</a:t>
            </a:r>
            <a:endParaRPr/>
          </a:p>
        </p:txBody>
      </p:sp>
      <p:sp>
        <p:nvSpPr>
          <p:cNvPr id="594" name="Google Shape;594;p60"/>
          <p:cNvSpPr txBox="1"/>
          <p:nvPr>
            <p:ph idx="8" type="subTitle"/>
          </p:nvPr>
        </p:nvSpPr>
        <p:spPr>
          <a:xfrm>
            <a:off x="5229900" y="3243900"/>
            <a:ext cx="31683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Added three layers of protection</a:t>
            </a:r>
            <a:endParaRPr/>
          </a:p>
        </p:txBody>
      </p:sp>
      <p:pic>
        <p:nvPicPr>
          <p:cNvPr id="595" name="Google Shape;595;p60" title="Design Decision 2.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1"/>
          <p:cNvSpPr txBox="1"/>
          <p:nvPr>
            <p:ph idx="1" type="body"/>
          </p:nvPr>
        </p:nvSpPr>
        <p:spPr>
          <a:xfrm>
            <a:off x="244575" y="1626750"/>
            <a:ext cx="1929000" cy="923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latin typeface="Courier New"/>
                <a:ea typeface="Courier New"/>
                <a:cs typeface="Courier New"/>
                <a:sym typeface="Courier New"/>
              </a:rPr>
              <a:t>programs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students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transcript_entries</a:t>
            </a:r>
            <a:endParaRPr>
              <a:latin typeface="Courier New"/>
              <a:ea typeface="Courier New"/>
              <a:cs typeface="Courier New"/>
              <a:sym typeface="Courier New"/>
            </a:endParaRPr>
          </a:p>
        </p:txBody>
      </p:sp>
      <p:sp>
        <p:nvSpPr>
          <p:cNvPr id="601" name="Google Shape;601;p61"/>
          <p:cNvSpPr txBox="1"/>
          <p:nvPr>
            <p:ph idx="4" type="body"/>
          </p:nvPr>
        </p:nvSpPr>
        <p:spPr>
          <a:xfrm>
            <a:off x="4739126" y="1626750"/>
            <a:ext cx="1929000" cy="14763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Courier New"/>
                <a:ea typeface="Courier New"/>
                <a:cs typeface="Courier New"/>
                <a:sym typeface="Courier New"/>
              </a:rPr>
              <a:t>terms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course_offerings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schedules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schedule_terms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schedule_items</a:t>
            </a:r>
            <a:endParaRPr>
              <a:latin typeface="Courier New"/>
              <a:ea typeface="Courier New"/>
              <a:cs typeface="Courier New"/>
              <a:sym typeface="Courier New"/>
            </a:endParaRPr>
          </a:p>
        </p:txBody>
      </p:sp>
      <p:sp>
        <p:nvSpPr>
          <p:cNvPr id="602" name="Google Shape;602;p61"/>
          <p:cNvSpPr txBox="1"/>
          <p:nvPr>
            <p:ph idx="6" type="body"/>
          </p:nvPr>
        </p:nvSpPr>
        <p:spPr>
          <a:xfrm>
            <a:off x="2491850" y="1626750"/>
            <a:ext cx="1929000" cy="11958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Courier New"/>
                <a:ea typeface="Courier New"/>
                <a:cs typeface="Courier New"/>
                <a:sym typeface="Courier New"/>
              </a:rPr>
              <a:t>courses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prerequisites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requirements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syllabus_chunks</a:t>
            </a:r>
            <a:endParaRPr>
              <a:latin typeface="Courier New"/>
              <a:ea typeface="Courier New"/>
              <a:cs typeface="Courier New"/>
              <a:sym typeface="Courier New"/>
            </a:endParaRPr>
          </a:p>
        </p:txBody>
      </p:sp>
      <p:sp>
        <p:nvSpPr>
          <p:cNvPr id="603" name="Google Shape;603;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Model</a:t>
            </a:r>
            <a:endParaRPr/>
          </a:p>
        </p:txBody>
      </p:sp>
      <p:sp>
        <p:nvSpPr>
          <p:cNvPr id="604" name="Google Shape;604;p61"/>
          <p:cNvSpPr txBox="1"/>
          <p:nvPr>
            <p:ph idx="7" type="subTitle"/>
          </p:nvPr>
        </p:nvSpPr>
        <p:spPr>
          <a:xfrm>
            <a:off x="244575" y="1145550"/>
            <a:ext cx="1929000" cy="48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Student</a:t>
            </a:r>
            <a:endParaRPr/>
          </a:p>
        </p:txBody>
      </p:sp>
      <p:sp>
        <p:nvSpPr>
          <p:cNvPr id="605" name="Google Shape;605;p61"/>
          <p:cNvSpPr txBox="1"/>
          <p:nvPr>
            <p:ph idx="8" type="subTitle"/>
          </p:nvPr>
        </p:nvSpPr>
        <p:spPr>
          <a:xfrm>
            <a:off x="4739126" y="1145550"/>
            <a:ext cx="1929000" cy="48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Calendar</a:t>
            </a:r>
            <a:endParaRPr/>
          </a:p>
        </p:txBody>
      </p:sp>
      <p:sp>
        <p:nvSpPr>
          <p:cNvPr id="606" name="Google Shape;606;p61"/>
          <p:cNvSpPr txBox="1"/>
          <p:nvPr>
            <p:ph idx="9" type="subTitle"/>
          </p:nvPr>
        </p:nvSpPr>
        <p:spPr>
          <a:xfrm>
            <a:off x="2491850" y="1145550"/>
            <a:ext cx="1929000" cy="48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Catalog</a:t>
            </a:r>
            <a:endParaRPr/>
          </a:p>
        </p:txBody>
      </p:sp>
      <p:sp>
        <p:nvSpPr>
          <p:cNvPr id="607" name="Google Shape;607;p61"/>
          <p:cNvSpPr txBox="1"/>
          <p:nvPr>
            <p:ph idx="8" type="subTitle"/>
          </p:nvPr>
        </p:nvSpPr>
        <p:spPr>
          <a:xfrm>
            <a:off x="6986400" y="1145550"/>
            <a:ext cx="1929000" cy="48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Advising</a:t>
            </a:r>
            <a:endParaRPr/>
          </a:p>
        </p:txBody>
      </p:sp>
      <p:sp>
        <p:nvSpPr>
          <p:cNvPr id="608" name="Google Shape;608;p61"/>
          <p:cNvSpPr txBox="1"/>
          <p:nvPr>
            <p:ph idx="4" type="body"/>
          </p:nvPr>
        </p:nvSpPr>
        <p:spPr>
          <a:xfrm>
            <a:off x="6986400" y="1626750"/>
            <a:ext cx="1929000" cy="1018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Courier New"/>
                <a:ea typeface="Courier New"/>
                <a:cs typeface="Courier New"/>
                <a:sym typeface="Courier New"/>
              </a:rPr>
              <a:t>advisor_contacts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milestones </a:t>
            </a:r>
            <a:endParaRPr>
              <a:latin typeface="Courier New"/>
              <a:ea typeface="Courier New"/>
              <a:cs typeface="Courier New"/>
              <a:sym typeface="Courier New"/>
            </a:endParaRPr>
          </a:p>
          <a:p>
            <a:pPr indent="0" lvl="0" marL="0" rtl="0" algn="l">
              <a:lnSpc>
                <a:spcPct val="150000"/>
              </a:lnSpc>
              <a:spcBef>
                <a:spcPts val="0"/>
              </a:spcBef>
              <a:spcAft>
                <a:spcPts val="0"/>
              </a:spcAft>
              <a:buNone/>
            </a:pPr>
            <a:r>
              <a:rPr lang="en">
                <a:latin typeface="Courier New"/>
                <a:ea typeface="Courier New"/>
                <a:cs typeface="Courier New"/>
                <a:sym typeface="Courier New"/>
              </a:rPr>
              <a:t>data_ingestion_logs</a:t>
            </a:r>
            <a:endParaRPr>
              <a:latin typeface="Courier New"/>
              <a:ea typeface="Courier New"/>
              <a:cs typeface="Courier New"/>
              <a:sym typeface="Courier New"/>
            </a:endParaRPr>
          </a:p>
        </p:txBody>
      </p:sp>
      <p:pic>
        <p:nvPicPr>
          <p:cNvPr id="609" name="Google Shape;609;p61" title="Data Model.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sp>
        <p:nvSpPr>
          <p:cNvPr id="610" name="Google Shape;610;p61"/>
          <p:cNvSpPr txBox="1"/>
          <p:nvPr/>
        </p:nvSpPr>
        <p:spPr>
          <a:xfrm>
            <a:off x="484200" y="3431575"/>
            <a:ext cx="8175600" cy="1476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lt1"/>
                </a:solidFill>
                <a:latin typeface="Urbanist"/>
                <a:ea typeface="Urbanist"/>
                <a:cs typeface="Urbanist"/>
                <a:sym typeface="Urbanist"/>
              </a:rPr>
              <a:t>3 important schema choices:</a:t>
            </a:r>
            <a:endParaRPr sz="1200">
              <a:solidFill>
                <a:schemeClr val="lt1"/>
              </a:solidFill>
              <a:latin typeface="Urbanist"/>
              <a:ea typeface="Urbanist"/>
              <a:cs typeface="Urbanist"/>
              <a:sym typeface="Urbanist"/>
            </a:endParaRPr>
          </a:p>
          <a:p>
            <a:pPr indent="-304800" lvl="0" marL="457200" rtl="0" algn="l">
              <a:lnSpc>
                <a:spcPct val="150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One login, one student</a:t>
            </a:r>
            <a:endParaRPr sz="1200">
              <a:solidFill>
                <a:schemeClr val="lt1"/>
              </a:solidFill>
              <a:latin typeface="Urbanist"/>
              <a:ea typeface="Urbanist"/>
              <a:cs typeface="Urbanist"/>
              <a:sym typeface="Urbanist"/>
            </a:endParaRPr>
          </a:p>
          <a:p>
            <a:pPr indent="-304800" lvl="0" marL="457200" rtl="0" algn="l">
              <a:lnSpc>
                <a:spcPct val="150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Prerequisites from the syllabi</a:t>
            </a:r>
            <a:endParaRPr sz="1200">
              <a:solidFill>
                <a:schemeClr val="lt1"/>
              </a:solidFill>
              <a:latin typeface="Urbanist"/>
              <a:ea typeface="Urbanist"/>
              <a:cs typeface="Urbanist"/>
              <a:sym typeface="Urbanist"/>
            </a:endParaRPr>
          </a:p>
          <a:p>
            <a:pPr indent="-304800" lvl="0" marL="457200" rtl="0" algn="l">
              <a:lnSpc>
                <a:spcPct val="150000"/>
              </a:lnSpc>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Ready for vectors</a:t>
            </a:r>
            <a:endParaRPr sz="12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Stack</a:t>
            </a:r>
            <a:endParaRPr/>
          </a:p>
        </p:txBody>
      </p:sp>
      <p:graphicFrame>
        <p:nvGraphicFramePr>
          <p:cNvPr id="616" name="Google Shape;616;p62"/>
          <p:cNvGraphicFramePr/>
          <p:nvPr/>
        </p:nvGraphicFramePr>
        <p:xfrm>
          <a:off x="449500" y="1428750"/>
          <a:ext cx="3000000" cy="3000000"/>
        </p:xfrm>
        <a:graphic>
          <a:graphicData uri="http://schemas.openxmlformats.org/drawingml/2006/table">
            <a:tbl>
              <a:tblPr>
                <a:noFill/>
                <a:tableStyleId>{2FB02BA1-8D5E-4ECF-84B5-86BD1B334620}</a:tableStyleId>
              </a:tblPr>
              <a:tblGrid>
                <a:gridCol w="4120475"/>
                <a:gridCol w="4120475"/>
              </a:tblGrid>
              <a:tr h="381000">
                <a:tc>
                  <a:txBody>
                    <a:bodyPr/>
                    <a:lstStyle/>
                    <a:p>
                      <a:pPr indent="0" lvl="0" marL="0" rtl="0" algn="l">
                        <a:spcBef>
                          <a:spcPts val="0"/>
                        </a:spcBef>
                        <a:spcAft>
                          <a:spcPts val="0"/>
                        </a:spcAft>
                        <a:buNone/>
                      </a:pPr>
                      <a:r>
                        <a:rPr b="1" lang="en">
                          <a:solidFill>
                            <a:schemeClr val="lt1"/>
                          </a:solidFill>
                        </a:rPr>
                        <a:t>Layer</a:t>
                      </a:r>
                      <a:endParaRPr b="1">
                        <a:solidFill>
                          <a:schemeClr val="lt1"/>
                        </a:solidFill>
                      </a:endParaRPr>
                    </a:p>
                  </a:txBody>
                  <a:tcPr marT="91425" marB="91425" marR="91425" marL="91425"/>
                </a:tc>
                <a:tc>
                  <a:txBody>
                    <a:bodyPr/>
                    <a:lstStyle/>
                    <a:p>
                      <a:pPr indent="0" lvl="0" marL="0" rtl="0" algn="l">
                        <a:spcBef>
                          <a:spcPts val="0"/>
                        </a:spcBef>
                        <a:spcAft>
                          <a:spcPts val="0"/>
                        </a:spcAft>
                        <a:buNone/>
                      </a:pPr>
                      <a:r>
                        <a:rPr b="1" lang="en">
                          <a:solidFill>
                            <a:schemeClr val="lt1"/>
                          </a:solidFill>
                        </a:rPr>
                        <a:t>Choice</a:t>
                      </a:r>
                      <a:endParaRPr b="1">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Frontend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JavaScript, React, Vite, Vitest</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Auth</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Clerk</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Backend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Python, FastAPI, pytest</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AI</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Vertex AI: Gemini 2.5 Flash, gemini-embedding-001</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Database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PostgreSQL 18 + pgvector (Cloud SQL)</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Hosting</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Vercel (Frontend), Google Cloud Run (Backend)</a:t>
                      </a:r>
                      <a:endParaRPr>
                        <a:solidFill>
                          <a:schemeClr val="lt1"/>
                        </a:solidFill>
                      </a:endParaRPr>
                    </a:p>
                  </a:txBody>
                  <a:tcPr marT="91425" marB="91425" marR="91425" marL="91425"/>
                </a:tc>
              </a:tr>
            </a:tbl>
          </a:graphicData>
        </a:graphic>
      </p:graphicFrame>
      <p:pic>
        <p:nvPicPr>
          <p:cNvPr id="617" name="Google Shape;617;p62" title="Technology Stack.mp3">
            <a:hlinkClick r:id="rId3"/>
          </p:cNvPr>
          <p:cNvPicPr preferRelativeResize="0"/>
          <p:nvPr/>
        </p:nvPicPr>
        <p:blipFill>
          <a:blip r:embed="rId4">
            <a:alphaModFix/>
          </a:blip>
          <a:stretch>
            <a:fillRect/>
          </a:stretch>
        </p:blipFill>
        <p:spPr>
          <a:xfrm>
            <a:off x="17000" y="4700725"/>
            <a:ext cx="423200" cy="42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63" title="Final app demo.mp4">
            <a:hlinkClick r:id="rId3"/>
          </p:cNvPr>
          <p:cNvPicPr preferRelativeResize="0"/>
          <p:nvPr/>
        </p:nvPicPr>
        <p:blipFill>
          <a:blip r:embed="rId4">
            <a:alphaModFix/>
          </a:blip>
          <a:stretch>
            <a:fillRect/>
          </a:stretch>
        </p:blipFill>
        <p:spPr>
          <a:xfrm>
            <a:off x="223988"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time working on a team and a project at this scale</a:t>
            </a:r>
            <a:endParaRPr/>
          </a:p>
        </p:txBody>
      </p:sp>
      <p:sp>
        <p:nvSpPr>
          <p:cNvPr id="628" name="Google Shape;628;p64"/>
          <p:cNvSpPr txBox="1"/>
          <p:nvPr>
            <p:ph idx="1" type="body"/>
          </p:nvPr>
        </p:nvSpPr>
        <p:spPr>
          <a:xfrm>
            <a:off x="483175" y="2417500"/>
            <a:ext cx="2455500" cy="369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t/>
            </a:r>
            <a:endParaRPr/>
          </a:p>
        </p:txBody>
      </p:sp>
      <p:sp>
        <p:nvSpPr>
          <p:cNvPr id="629" name="Google Shape;629;p6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Unfamiliar tech stack and architecture</a:t>
            </a:r>
            <a:endParaRPr/>
          </a:p>
        </p:txBody>
      </p:sp>
      <p:sp>
        <p:nvSpPr>
          <p:cNvPr id="630" name="Google Shape;630;p6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Distributed team across two time zones</a:t>
            </a:r>
            <a:endParaRPr/>
          </a:p>
        </p:txBody>
      </p:sp>
      <p:sp>
        <p:nvSpPr>
          <p:cNvPr id="631" name="Google Shape;631;p6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633" name="Google Shape;633;p6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34" name="Google Shape;634;p64" title="s11_challenges_8w1_audio.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pic>
        <p:nvPicPr>
          <p:cNvPr id="635" name="Google Shape;635;p64" title="challenges-1-tech-stack.png"/>
          <p:cNvPicPr preferRelativeResize="0"/>
          <p:nvPr/>
        </p:nvPicPr>
        <p:blipFill>
          <a:blip r:embed="rId5">
            <a:alphaModFix/>
          </a:blip>
          <a:stretch>
            <a:fillRect/>
          </a:stretch>
        </p:blipFill>
        <p:spPr>
          <a:xfrm>
            <a:off x="524125" y="2417500"/>
            <a:ext cx="2373600" cy="2373600"/>
          </a:xfrm>
          <a:prstGeom prst="rect">
            <a:avLst/>
          </a:prstGeom>
          <a:noFill/>
          <a:ln>
            <a:noFill/>
          </a:ln>
        </p:spPr>
      </p:pic>
      <p:pic>
        <p:nvPicPr>
          <p:cNvPr id="636" name="Google Shape;636;p64" title="challenges-2-time-zones.png"/>
          <p:cNvPicPr preferRelativeResize="0"/>
          <p:nvPr/>
        </p:nvPicPr>
        <p:blipFill>
          <a:blip r:embed="rId6">
            <a:alphaModFix/>
          </a:blip>
          <a:stretch>
            <a:fillRect/>
          </a:stretch>
        </p:blipFill>
        <p:spPr>
          <a:xfrm>
            <a:off x="3347725" y="2417500"/>
            <a:ext cx="2455500" cy="2455500"/>
          </a:xfrm>
          <a:prstGeom prst="rect">
            <a:avLst/>
          </a:prstGeom>
          <a:noFill/>
          <a:ln>
            <a:noFill/>
          </a:ln>
        </p:spPr>
      </p:pic>
      <p:pic>
        <p:nvPicPr>
          <p:cNvPr id="637" name="Google Shape;637;p64" title="challenges-3-first-time-scale.png"/>
          <p:cNvPicPr preferRelativeResize="0"/>
          <p:nvPr/>
        </p:nvPicPr>
        <p:blipFill>
          <a:blip r:embed="rId7">
            <a:alphaModFix/>
          </a:blip>
          <a:stretch>
            <a:fillRect/>
          </a:stretch>
        </p:blipFill>
        <p:spPr>
          <a:xfrm>
            <a:off x="6212275" y="2417500"/>
            <a:ext cx="2373600" cy="2373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5"/>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Integration is an all hands experience</a:t>
            </a:r>
            <a:endParaRPr/>
          </a:p>
        </p:txBody>
      </p:sp>
      <p:sp>
        <p:nvSpPr>
          <p:cNvPr id="643" name="Google Shape;643;p65"/>
          <p:cNvSpPr txBox="1"/>
          <p:nvPr>
            <p:ph idx="1" type="body"/>
          </p:nvPr>
        </p:nvSpPr>
        <p:spPr>
          <a:xfrm>
            <a:off x="483175" y="2417500"/>
            <a:ext cx="2455500" cy="369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t/>
            </a:r>
            <a:endParaRPr/>
          </a:p>
        </p:txBody>
      </p:sp>
      <p:sp>
        <p:nvSpPr>
          <p:cNvPr id="644" name="Google Shape;644;p65"/>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Importance of planning and design stage</a:t>
            </a:r>
            <a:endParaRPr/>
          </a:p>
        </p:txBody>
      </p:sp>
      <p:sp>
        <p:nvSpPr>
          <p:cNvPr id="645" name="Google Shape;645;p65"/>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time use of tools comes with unexpected challenges</a:t>
            </a:r>
            <a:endParaRPr/>
          </a:p>
        </p:txBody>
      </p:sp>
      <p:sp>
        <p:nvSpPr>
          <p:cNvPr id="646" name="Google Shape;646;p65"/>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Lessons Learned</a:t>
            </a:r>
            <a:endParaRPr/>
          </a:p>
        </p:txBody>
      </p:sp>
      <p:sp>
        <p:nvSpPr>
          <p:cNvPr id="648" name="Google Shape;648;p65"/>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49" name="Google Shape;649;p65" title="s13_lessons_learned_8w1_audio.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pic>
        <p:nvPicPr>
          <p:cNvPr id="650" name="Google Shape;650;p65" title="lessons-1-planning-design.png"/>
          <p:cNvPicPr preferRelativeResize="0"/>
          <p:nvPr/>
        </p:nvPicPr>
        <p:blipFill>
          <a:blip r:embed="rId5">
            <a:alphaModFix/>
          </a:blip>
          <a:stretch>
            <a:fillRect/>
          </a:stretch>
        </p:blipFill>
        <p:spPr>
          <a:xfrm>
            <a:off x="3361225" y="2417500"/>
            <a:ext cx="2455500" cy="2455475"/>
          </a:xfrm>
          <a:prstGeom prst="rect">
            <a:avLst/>
          </a:prstGeom>
          <a:noFill/>
          <a:ln>
            <a:noFill/>
          </a:ln>
        </p:spPr>
      </p:pic>
      <p:pic>
        <p:nvPicPr>
          <p:cNvPr id="651" name="Google Shape;651;p65" title="lessons-2-tools-unexpected.png"/>
          <p:cNvPicPr preferRelativeResize="0"/>
          <p:nvPr/>
        </p:nvPicPr>
        <p:blipFill>
          <a:blip r:embed="rId6">
            <a:alphaModFix/>
          </a:blip>
          <a:stretch>
            <a:fillRect/>
          </a:stretch>
        </p:blipFill>
        <p:spPr>
          <a:xfrm>
            <a:off x="483175" y="2352800"/>
            <a:ext cx="2455500" cy="2455500"/>
          </a:xfrm>
          <a:prstGeom prst="rect">
            <a:avLst/>
          </a:prstGeom>
          <a:noFill/>
          <a:ln>
            <a:noFill/>
          </a:ln>
        </p:spPr>
      </p:pic>
      <p:pic>
        <p:nvPicPr>
          <p:cNvPr id="652" name="Google Shape;652;p65" title="lessons-3-integration.png"/>
          <p:cNvPicPr preferRelativeResize="0"/>
          <p:nvPr/>
        </p:nvPicPr>
        <p:blipFill>
          <a:blip r:embed="rId7">
            <a:alphaModFix/>
          </a:blip>
          <a:stretch>
            <a:fillRect/>
          </a:stretch>
        </p:blipFill>
        <p:spPr>
          <a:xfrm>
            <a:off x="6212275" y="2393750"/>
            <a:ext cx="2373600" cy="2373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6"/>
          <p:cNvSpPr txBox="1"/>
          <p:nvPr>
            <p:ph idx="4294967295" type="title"/>
          </p:nvPr>
        </p:nvSpPr>
        <p:spPr>
          <a:xfrm>
            <a:off x="483175" y="450025"/>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658" name="Google Shape;658;p6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Transcript Uploads</a:t>
            </a:r>
            <a:endParaRPr/>
          </a:p>
        </p:txBody>
      </p:sp>
      <p:pic>
        <p:nvPicPr>
          <p:cNvPr id="659" name="Google Shape;659;p66" title="next-3-schedule-builder.png"/>
          <p:cNvPicPr preferRelativeResize="0"/>
          <p:nvPr>
            <p:ph idx="2" type="pic"/>
          </p:nvPr>
        </p:nvPicPr>
        <p:blipFill rotWithShape="1">
          <a:blip r:embed="rId3">
            <a:alphaModFix/>
          </a:blip>
          <a:srcRect b="6732" l="0" r="0" t="6741"/>
          <a:stretch/>
        </p:blipFill>
        <p:spPr>
          <a:xfrm>
            <a:off x="6205225" y="1128325"/>
            <a:ext cx="2627100" cy="2273100"/>
          </a:xfrm>
          <a:prstGeom prst="rect">
            <a:avLst/>
          </a:prstGeom>
        </p:spPr>
      </p:pic>
      <p:pic>
        <p:nvPicPr>
          <p:cNvPr id="660" name="Google Shape;660;p66" title="next-1-add-programs-degrees.png"/>
          <p:cNvPicPr preferRelativeResize="0"/>
          <p:nvPr>
            <p:ph idx="3" type="pic"/>
          </p:nvPr>
        </p:nvPicPr>
        <p:blipFill rotWithShape="1">
          <a:blip r:embed="rId4">
            <a:alphaModFix/>
          </a:blip>
          <a:srcRect b="6732" l="0" r="0" t="6741"/>
          <a:stretch/>
        </p:blipFill>
        <p:spPr>
          <a:xfrm>
            <a:off x="311725" y="1128325"/>
            <a:ext cx="2627100" cy="2273100"/>
          </a:xfrm>
          <a:prstGeom prst="rect">
            <a:avLst/>
          </a:prstGeom>
        </p:spPr>
      </p:pic>
      <p:sp>
        <p:nvSpPr>
          <p:cNvPr id="661" name="Google Shape;661;p6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More Programs and Degrees</a:t>
            </a:r>
            <a:endParaRPr/>
          </a:p>
        </p:txBody>
      </p:sp>
      <p:pic>
        <p:nvPicPr>
          <p:cNvPr id="662" name="Google Shape;662;p66" title="next-2-transcript-upload (3).png"/>
          <p:cNvPicPr preferRelativeResize="0"/>
          <p:nvPr>
            <p:ph idx="5" type="pic"/>
          </p:nvPr>
        </p:nvPicPr>
        <p:blipFill rotWithShape="1">
          <a:blip r:embed="rId5">
            <a:alphaModFix/>
          </a:blip>
          <a:srcRect b="6732" l="0" r="0" t="6741"/>
          <a:stretch/>
        </p:blipFill>
        <p:spPr>
          <a:xfrm>
            <a:off x="3255250" y="1128325"/>
            <a:ext cx="2627100" cy="2273100"/>
          </a:xfrm>
          <a:prstGeom prst="rect">
            <a:avLst/>
          </a:prstGeom>
        </p:spPr>
      </p:pic>
      <p:sp>
        <p:nvSpPr>
          <p:cNvPr id="663" name="Google Shape;663;p6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Schedule Builder</a:t>
            </a:r>
            <a:endParaRPr/>
          </a:p>
        </p:txBody>
      </p:sp>
      <p:pic>
        <p:nvPicPr>
          <p:cNvPr id="664" name="Google Shape;664;p66" title="s14_next_steps_8w1_audio.mp3">
            <a:hlinkClick r:id="rId6"/>
          </p:cNvPr>
          <p:cNvPicPr preferRelativeResize="0"/>
          <p:nvPr/>
        </p:nvPicPr>
        <p:blipFill>
          <a:blip r:embed="rId7">
            <a:alphaModFix/>
          </a:blip>
          <a:stretch>
            <a:fillRect/>
          </a:stretch>
        </p:blipFill>
        <p:spPr>
          <a:xfrm>
            <a:off x="0" y="4683725"/>
            <a:ext cx="457200"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7"/>
          <p:cNvSpPr txBox="1"/>
          <p:nvPr>
            <p:ph type="title"/>
          </p:nvPr>
        </p:nvSpPr>
        <p:spPr>
          <a:xfrm>
            <a:off x="228600" y="290448"/>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Conclusion</a:t>
            </a:r>
            <a:endParaRPr/>
          </a:p>
        </p:txBody>
      </p:sp>
      <p:sp>
        <p:nvSpPr>
          <p:cNvPr id="670" name="Google Shape;670;p67"/>
          <p:cNvSpPr txBox="1"/>
          <p:nvPr>
            <p:ph idx="1" type="subTitle"/>
          </p:nvPr>
        </p:nvSpPr>
        <p:spPr>
          <a:xfrm>
            <a:off x="4525075" y="2396288"/>
            <a:ext cx="3926400" cy="19506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None/>
            </a:pPr>
            <a:r>
              <a:t/>
            </a:r>
            <a:endParaRPr>
              <a:solidFill>
                <a:schemeClr val="dk2"/>
              </a:solidFill>
            </a:endParaRPr>
          </a:p>
          <a:p>
            <a:pPr indent="-330200" lvl="0" marL="457200" rtl="0" algn="l">
              <a:lnSpc>
                <a:spcPct val="115000"/>
              </a:lnSpc>
              <a:spcBef>
                <a:spcPts val="1200"/>
              </a:spcBef>
              <a:spcAft>
                <a:spcPts val="0"/>
              </a:spcAft>
              <a:buClr>
                <a:schemeClr val="dk2"/>
              </a:buClr>
              <a:buSzPts val="1600"/>
              <a:buChar char="●"/>
            </a:pPr>
            <a:r>
              <a:rPr lang="en">
                <a:solidFill>
                  <a:schemeClr val="dk2"/>
                </a:solidFill>
              </a:rPr>
              <a:t>Thank you for listening</a:t>
            </a:r>
            <a:endParaRPr>
              <a:solidFill>
                <a:schemeClr val="dk2"/>
              </a:solidFill>
            </a:endParaRPr>
          </a:p>
        </p:txBody>
      </p:sp>
      <p:grpSp>
        <p:nvGrpSpPr>
          <p:cNvPr id="671" name="Google Shape;671;p67"/>
          <p:cNvGrpSpPr/>
          <p:nvPr/>
        </p:nvGrpSpPr>
        <p:grpSpPr>
          <a:xfrm rot="5400000">
            <a:off x="4572025" y="2830516"/>
            <a:ext cx="228589" cy="228622"/>
            <a:chOff x="1688332" y="4135245"/>
            <a:chExt cx="338700" cy="338700"/>
          </a:xfrm>
        </p:grpSpPr>
        <p:sp>
          <p:nvSpPr>
            <p:cNvPr id="672" name="Google Shape;672;p67"/>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73" name="Google Shape;673;p67"/>
            <p:cNvGrpSpPr/>
            <p:nvPr/>
          </p:nvGrpSpPr>
          <p:grpSpPr>
            <a:xfrm rot="-5400000">
              <a:off x="1787014" y="4262191"/>
              <a:ext cx="169598" cy="84809"/>
              <a:chOff x="498725" y="2069800"/>
              <a:chExt cx="205200" cy="102600"/>
            </a:xfrm>
          </p:grpSpPr>
          <p:cxnSp>
            <p:nvCxnSpPr>
              <p:cNvPr id="674" name="Google Shape;674;p67"/>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75" name="Google Shape;675;p67"/>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676" name="Google Shape;676;p67"/>
          <p:cNvSpPr/>
          <p:nvPr/>
        </p:nvSpPr>
        <p:spPr>
          <a:xfrm>
            <a:off x="78800" y="4748525"/>
            <a:ext cx="389400" cy="3276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77" name="Google Shape;677;p67"/>
          <p:cNvSpPr/>
          <p:nvPr/>
        </p:nvSpPr>
        <p:spPr>
          <a:xfrm>
            <a:off x="4468825" y="4713750"/>
            <a:ext cx="389400" cy="3276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678" name="Google Shape;678;p67" title="conclusion_8w1_audio.mp3">
            <a:hlinkClick r:id="rId3"/>
          </p:cNvPr>
          <p:cNvPicPr preferRelativeResize="0"/>
          <p:nvPr/>
        </p:nvPicPr>
        <p:blipFill>
          <a:blip r:embed="rId4">
            <a:alphaModFix/>
          </a:blip>
          <a:stretch>
            <a:fillRect/>
          </a:stretch>
        </p:blipFill>
        <p:spPr>
          <a:xfrm>
            <a:off x="0" y="4683725"/>
            <a:ext cx="457200" cy="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pic>
        <p:nvPicPr>
          <p:cNvPr id="683" name="Google Shape;683;p68" title="CourseCompassIntro.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7" name="Shape 687"/>
        <p:cNvGrpSpPr/>
        <p:nvPr/>
      </p:nvGrpSpPr>
      <p:grpSpPr>
        <a:xfrm>
          <a:off x="0" y="0"/>
          <a:ext cx="0" cy="0"/>
          <a:chOff x="0" y="0"/>
          <a:chExt cx="0" cy="0"/>
        </a:xfrm>
      </p:grpSpPr>
      <p:pic>
        <p:nvPicPr>
          <p:cNvPr descr="A luminous galaxy in space. " id="688" name="Google Shape;688;p69"/>
          <p:cNvPicPr preferRelativeResize="0"/>
          <p:nvPr/>
        </p:nvPicPr>
        <p:blipFill rotWithShape="1">
          <a:blip r:embed="rId3">
            <a:alphaModFix amt="50000"/>
          </a:blip>
          <a:srcRect b="1961" l="0" r="0" t="6840"/>
          <a:stretch/>
        </p:blipFill>
        <p:spPr>
          <a:xfrm>
            <a:off x="0" y="-3250"/>
            <a:ext cx="9144003" cy="4686976"/>
          </a:xfrm>
          <a:prstGeom prst="rect">
            <a:avLst/>
          </a:prstGeom>
          <a:noFill/>
          <a:ln>
            <a:noFill/>
          </a:ln>
        </p:spPr>
      </p:pic>
      <p:sp>
        <p:nvSpPr>
          <p:cNvPr id="689" name="Google Shape;689;p69"/>
          <p:cNvSpPr txBox="1"/>
          <p:nvPr>
            <p:ph type="title"/>
          </p:nvPr>
        </p:nvSpPr>
        <p:spPr>
          <a:xfrm>
            <a:off x="234125" y="3337800"/>
            <a:ext cx="8574600" cy="1114800"/>
          </a:xfrm>
          <a:prstGeom prst="rect">
            <a:avLst/>
          </a:prstGeom>
        </p:spPr>
        <p:txBody>
          <a:bodyPr anchorCtr="0" anchor="b" bIns="0" lIns="0" spcFirstLastPara="1" rIns="0" wrap="square" tIns="0">
            <a:noAutofit/>
          </a:bodyPr>
          <a:lstStyle/>
          <a:p>
            <a:pPr indent="0" lvl="0" marL="0" rtl="0" algn="l">
              <a:lnSpc>
                <a:spcPct val="85000"/>
              </a:lnSpc>
              <a:spcBef>
                <a:spcPts val="0"/>
              </a:spcBef>
              <a:spcAft>
                <a:spcPts val="0"/>
              </a:spcAft>
              <a:buNone/>
            </a:pPr>
            <a:r>
              <a:rPr lang="en">
                <a:solidFill>
                  <a:schemeClr val="dk2"/>
                </a:solidFill>
              </a:rPr>
              <a:t>Write a bold, compelling statement about what the company wants to </a:t>
            </a:r>
            <a:r>
              <a:rPr lang="en">
                <a:solidFill>
                  <a:schemeClr val="accent3"/>
                </a:solidFill>
              </a:rPr>
              <a:t>achieve.</a:t>
            </a:r>
            <a:endParaRPr>
              <a:solidFill>
                <a:schemeClr val="accent3"/>
              </a:solidFill>
            </a:endParaRPr>
          </a:p>
        </p:txBody>
      </p:sp>
      <p:sp>
        <p:nvSpPr>
          <p:cNvPr id="690" name="Google Shape;690;p6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691" name="Google Shape;691;p6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692" name="Google Shape;692;p69"/>
          <p:cNvSpPr txBox="1"/>
          <p:nvPr>
            <p:ph idx="1" type="subTitle"/>
          </p:nvPr>
        </p:nvSpPr>
        <p:spPr>
          <a:xfrm>
            <a:off x="235575" y="228600"/>
            <a:ext cx="28701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Our mission</a:t>
            </a:r>
            <a:endParaRPr/>
          </a:p>
        </p:txBody>
      </p:sp>
      <p:sp>
        <p:nvSpPr>
          <p:cNvPr id="693" name="Google Shape;693;p6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pic>
        <p:nvPicPr>
          <p:cNvPr id="694" name="Google Shape;694;p69" title="euan_demo.mp4">
            <a:hlinkClick r:id="rId4"/>
          </p:cNvPr>
          <p:cNvPicPr preferRelativeResize="0"/>
          <p:nvPr/>
        </p:nvPicPr>
        <p:blipFill>
          <a:blip r:embed="rId5">
            <a:alphaModFix/>
          </a:blip>
          <a:stretch>
            <a:fillRect/>
          </a:stretch>
        </p:blipFill>
        <p:spPr>
          <a:xfrm>
            <a:off x="0" y="-571500"/>
            <a:ext cx="9144000" cy="57149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8" name="Shape 698"/>
        <p:cNvGrpSpPr/>
        <p:nvPr/>
      </p:nvGrpSpPr>
      <p:grpSpPr>
        <a:xfrm>
          <a:off x="0" y="0"/>
          <a:ext cx="0" cy="0"/>
          <a:chOff x="0" y="0"/>
          <a:chExt cx="0" cy="0"/>
        </a:xfrm>
      </p:grpSpPr>
      <p:cxnSp>
        <p:nvCxnSpPr>
          <p:cNvPr id="699" name="Google Shape;699;p70"/>
          <p:cNvCxnSpPr/>
          <p:nvPr/>
        </p:nvCxnSpPr>
        <p:spPr>
          <a:xfrm>
            <a:off x="3060563" y="1485050"/>
            <a:ext cx="0" cy="3198900"/>
          </a:xfrm>
          <a:prstGeom prst="straightConnector1">
            <a:avLst/>
          </a:prstGeom>
          <a:noFill/>
          <a:ln cap="flat" cmpd="sng" w="9525">
            <a:solidFill>
              <a:schemeClr val="accent1"/>
            </a:solidFill>
            <a:prstDash val="solid"/>
            <a:round/>
            <a:headEnd len="med" w="med" type="none"/>
            <a:tailEnd len="med" w="med" type="none"/>
          </a:ln>
        </p:spPr>
      </p:cxnSp>
      <p:cxnSp>
        <p:nvCxnSpPr>
          <p:cNvPr id="700" name="Google Shape;700;p70"/>
          <p:cNvCxnSpPr/>
          <p:nvPr/>
        </p:nvCxnSpPr>
        <p:spPr>
          <a:xfrm>
            <a:off x="238800" y="148505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701" name="Google Shape;701;p70"/>
          <p:cNvCxnSpPr/>
          <p:nvPr/>
        </p:nvCxnSpPr>
        <p:spPr>
          <a:xfrm>
            <a:off x="5989538" y="1485050"/>
            <a:ext cx="0" cy="3198900"/>
          </a:xfrm>
          <a:prstGeom prst="straightConnector1">
            <a:avLst/>
          </a:prstGeom>
          <a:noFill/>
          <a:ln cap="flat" cmpd="sng" w="9525">
            <a:solidFill>
              <a:schemeClr val="accent1"/>
            </a:solidFill>
            <a:prstDash val="solid"/>
            <a:round/>
            <a:headEnd len="med" w="med" type="none"/>
            <a:tailEnd len="med" w="med" type="none"/>
          </a:ln>
        </p:spPr>
      </p:cxnSp>
      <p:grpSp>
        <p:nvGrpSpPr>
          <p:cNvPr id="702" name="Google Shape;702;p70"/>
          <p:cNvGrpSpPr/>
          <p:nvPr/>
        </p:nvGrpSpPr>
        <p:grpSpPr>
          <a:xfrm>
            <a:off x="2698631" y="1801500"/>
            <a:ext cx="204654" cy="204654"/>
            <a:chOff x="259788" y="1923155"/>
            <a:chExt cx="409800" cy="409800"/>
          </a:xfrm>
        </p:grpSpPr>
        <p:sp>
          <p:nvSpPr>
            <p:cNvPr id="703" name="Google Shape;703;p70"/>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704" name="Google Shape;704;p70"/>
            <p:cNvGrpSpPr/>
            <p:nvPr/>
          </p:nvGrpSpPr>
          <p:grpSpPr>
            <a:xfrm>
              <a:off x="362088" y="2093825"/>
              <a:ext cx="205200" cy="102600"/>
              <a:chOff x="498725" y="2069800"/>
              <a:chExt cx="205200" cy="102600"/>
            </a:xfrm>
          </p:grpSpPr>
          <p:cxnSp>
            <p:nvCxnSpPr>
              <p:cNvPr id="705" name="Google Shape;705;p70"/>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706" name="Google Shape;706;p70"/>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707" name="Google Shape;707;p70"/>
          <p:cNvGrpSpPr/>
          <p:nvPr/>
        </p:nvGrpSpPr>
        <p:grpSpPr>
          <a:xfrm>
            <a:off x="5618381" y="1801500"/>
            <a:ext cx="204654" cy="204654"/>
            <a:chOff x="259788" y="1923155"/>
            <a:chExt cx="409800" cy="409800"/>
          </a:xfrm>
        </p:grpSpPr>
        <p:sp>
          <p:nvSpPr>
            <p:cNvPr id="708" name="Google Shape;708;p70"/>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709" name="Google Shape;709;p70"/>
            <p:cNvGrpSpPr/>
            <p:nvPr/>
          </p:nvGrpSpPr>
          <p:grpSpPr>
            <a:xfrm>
              <a:off x="362088" y="2093825"/>
              <a:ext cx="205200" cy="102600"/>
              <a:chOff x="498725" y="2069800"/>
              <a:chExt cx="205200" cy="102600"/>
            </a:xfrm>
          </p:grpSpPr>
          <p:cxnSp>
            <p:nvCxnSpPr>
              <p:cNvPr id="710" name="Google Shape;710;p70"/>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711" name="Google Shape;711;p70"/>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712" name="Google Shape;712;p70"/>
          <p:cNvGrpSpPr/>
          <p:nvPr/>
        </p:nvGrpSpPr>
        <p:grpSpPr>
          <a:xfrm>
            <a:off x="8711056" y="1801500"/>
            <a:ext cx="204654" cy="204654"/>
            <a:chOff x="259788" y="1923155"/>
            <a:chExt cx="409800" cy="409800"/>
          </a:xfrm>
        </p:grpSpPr>
        <p:sp>
          <p:nvSpPr>
            <p:cNvPr id="713" name="Google Shape;713;p70"/>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714" name="Google Shape;714;p70"/>
            <p:cNvGrpSpPr/>
            <p:nvPr/>
          </p:nvGrpSpPr>
          <p:grpSpPr>
            <a:xfrm>
              <a:off x="362088" y="2093825"/>
              <a:ext cx="205200" cy="102600"/>
              <a:chOff x="498725" y="2069800"/>
              <a:chExt cx="205200" cy="102600"/>
            </a:xfrm>
          </p:grpSpPr>
          <p:cxnSp>
            <p:nvCxnSpPr>
              <p:cNvPr id="715" name="Google Shape;715;p70"/>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716" name="Google Shape;716;p70"/>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sp>
        <p:nvSpPr>
          <p:cNvPr id="717" name="Google Shape;717;p70"/>
          <p:cNvSpPr txBox="1"/>
          <p:nvPr>
            <p:ph type="title"/>
          </p:nvPr>
        </p:nvSpPr>
        <p:spPr>
          <a:xfrm>
            <a:off x="228600" y="254100"/>
            <a:ext cx="7223400" cy="4062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None/>
            </a:pPr>
            <a:r>
              <a:rPr lang="en"/>
              <a:t>Technical Highlights</a:t>
            </a:r>
            <a:endParaRPr/>
          </a:p>
        </p:txBody>
      </p:sp>
      <p:sp>
        <p:nvSpPr>
          <p:cNvPr id="718" name="Google Shape;718;p70"/>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1</a:t>
            </a:r>
            <a:endParaRPr/>
          </a:p>
        </p:txBody>
      </p:sp>
      <p:sp>
        <p:nvSpPr>
          <p:cNvPr id="719" name="Google Shape;719;p70"/>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2</a:t>
            </a:r>
            <a:endParaRPr/>
          </a:p>
        </p:txBody>
      </p:sp>
      <p:sp>
        <p:nvSpPr>
          <p:cNvPr id="720" name="Google Shape;720;p70"/>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3</a:t>
            </a:r>
            <a:endParaRPr/>
          </a:p>
        </p:txBody>
      </p:sp>
      <p:sp>
        <p:nvSpPr>
          <p:cNvPr id="721" name="Google Shape;721;p70"/>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sz="1400"/>
              <a:t>All of the prerequisites modeled exactly as the real syllabus specifies, no approximation</a:t>
            </a:r>
            <a:endParaRPr/>
          </a:p>
        </p:txBody>
      </p:sp>
      <p:sp>
        <p:nvSpPr>
          <p:cNvPr id="722" name="Google Shape;722;p70"/>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sz="1400"/>
              <a:t>Confirmed this week: real end-to-end flow, chat → API → database → response</a:t>
            </a:r>
            <a:endParaRPr sz="1400"/>
          </a:p>
        </p:txBody>
      </p:sp>
      <p:sp>
        <p:nvSpPr>
          <p:cNvPr id="723" name="Google Shape;723;p70"/>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p>
            <a:pPr indent="0" lvl="0" marL="0" rtl="0" algn="l">
              <a:spcBef>
                <a:spcPts val="0"/>
              </a:spcBef>
              <a:spcAft>
                <a:spcPts val="0"/>
              </a:spcAft>
              <a:buClr>
                <a:schemeClr val="dk1"/>
              </a:buClr>
              <a:buSzPts val="1100"/>
              <a:buNone/>
            </a:pPr>
            <a:r>
              <a:rPr lang="en" sz="1400">
                <a:solidFill>
                  <a:schemeClr val="dk2"/>
                </a:solidFill>
                <a:latin typeface="Urbanist Medium"/>
                <a:ea typeface="Urbanist Medium"/>
                <a:cs typeface="Urbanist Medium"/>
                <a:sym typeface="Urbanist Medium"/>
              </a:rPr>
              <a:t>LLM restricted to fixed tool calls only, no direct data access, no invented facts</a:t>
            </a:r>
            <a:endParaRPr>
              <a:solidFill>
                <a:schemeClr val="dk2"/>
              </a:solidFill>
              <a:latin typeface="Urbanist Medium"/>
              <a:ea typeface="Urbanist Medium"/>
              <a:cs typeface="Urbanist Medium"/>
              <a:sym typeface="Urbanist Medium"/>
            </a:endParaRPr>
          </a:p>
        </p:txBody>
      </p:sp>
      <p:sp>
        <p:nvSpPr>
          <p:cNvPr id="724" name="Google Shape;724;p70"/>
          <p:cNvSpPr/>
          <p:nvPr/>
        </p:nvSpPr>
        <p:spPr>
          <a:xfrm>
            <a:off x="4424250" y="4748525"/>
            <a:ext cx="389400" cy="3276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725" name="Google Shape;725;p70" title="technical-highlights.mp3">
            <a:hlinkClick r:id="rId3"/>
          </p:cNvPr>
          <p:cNvPicPr preferRelativeResize="0"/>
          <p:nvPr/>
        </p:nvPicPr>
        <p:blipFill>
          <a:blip r:embed="rId4">
            <a:alphaModFix/>
          </a:blip>
          <a:stretch>
            <a:fillRect/>
          </a:stretch>
        </p:blipFill>
        <p:spPr>
          <a:xfrm>
            <a:off x="0" y="4683725"/>
            <a:ext cx="459775" cy="459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9" name="Shape 729"/>
        <p:cNvGrpSpPr/>
        <p:nvPr/>
      </p:nvGrpSpPr>
      <p:grpSpPr>
        <a:xfrm>
          <a:off x="0" y="0"/>
          <a:ext cx="0" cy="0"/>
          <a:chOff x="0" y="0"/>
          <a:chExt cx="0" cy="0"/>
        </a:xfrm>
      </p:grpSpPr>
      <p:sp>
        <p:nvSpPr>
          <p:cNvPr id="730" name="Google Shape;730;p71"/>
          <p:cNvSpPr txBox="1"/>
          <p:nvPr>
            <p:ph type="title"/>
          </p:nvPr>
        </p:nvSpPr>
        <p:spPr>
          <a:xfrm>
            <a:off x="228600" y="290448"/>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Limitations</a:t>
            </a:r>
            <a:endParaRPr/>
          </a:p>
        </p:txBody>
      </p:sp>
      <p:sp>
        <p:nvSpPr>
          <p:cNvPr id="731" name="Google Shape;731;p71"/>
          <p:cNvSpPr txBox="1"/>
          <p:nvPr>
            <p:ph idx="1" type="subTitle"/>
          </p:nvPr>
        </p:nvSpPr>
        <p:spPr>
          <a:xfrm>
            <a:off x="4525075" y="1103142"/>
            <a:ext cx="3926400" cy="3243600"/>
          </a:xfrm>
          <a:prstGeom prst="rect">
            <a:avLst/>
          </a:prstGeom>
        </p:spPr>
        <p:txBody>
          <a:bodyPr anchorCtr="0" anchor="b" bIns="0" lIns="0" spcFirstLastPara="1" rIns="0" wrap="square" tIns="0">
            <a:noAutofit/>
          </a:bodyPr>
          <a:lstStyle/>
          <a:p>
            <a:pPr indent="-330200" lvl="0" marL="457200" rtl="0" algn="l">
              <a:lnSpc>
                <a:spcPct val="115000"/>
              </a:lnSpc>
              <a:spcBef>
                <a:spcPts val="1200"/>
              </a:spcBef>
              <a:spcAft>
                <a:spcPts val="0"/>
              </a:spcAft>
              <a:buClr>
                <a:schemeClr val="dk2"/>
              </a:buClr>
              <a:buSzPts val="1600"/>
              <a:buChar char="●"/>
            </a:pPr>
            <a:r>
              <a:rPr lang="en">
                <a:solidFill>
                  <a:schemeClr val="dk2"/>
                </a:solidFill>
              </a:rPr>
              <a:t>Performance: 8–15 sec actual vs. 5 sec target</a:t>
            </a:r>
            <a:endParaRPr>
              <a:solidFill>
                <a:schemeClr val="dk2"/>
              </a:solidFill>
            </a:endParaRPr>
          </a:p>
          <a:p>
            <a:pPr indent="-330200" lvl="0" marL="457200" rtl="0" algn="l">
              <a:lnSpc>
                <a:spcPct val="115000"/>
              </a:lnSpc>
              <a:spcBef>
                <a:spcPts val="0"/>
              </a:spcBef>
              <a:spcAft>
                <a:spcPts val="0"/>
              </a:spcAft>
              <a:buClr>
                <a:schemeClr val="dk2"/>
              </a:buClr>
              <a:buSzPts val="1600"/>
              <a:buChar char="●"/>
            </a:pPr>
            <a:r>
              <a:rPr lang="en">
                <a:solidFill>
                  <a:schemeClr val="dk2"/>
                </a:solidFill>
              </a:rPr>
              <a:t>Latency between query and response is our biggest bottleneck (Cloud Run cold starts, external API calls)</a:t>
            </a:r>
            <a:endParaRPr>
              <a:solidFill>
                <a:schemeClr val="dk2"/>
              </a:solidFill>
            </a:endParaRPr>
          </a:p>
          <a:p>
            <a:pPr indent="-330200" lvl="0" marL="457200" rtl="0" algn="l">
              <a:lnSpc>
                <a:spcPct val="115000"/>
              </a:lnSpc>
              <a:spcBef>
                <a:spcPts val="0"/>
              </a:spcBef>
              <a:spcAft>
                <a:spcPts val="0"/>
              </a:spcAft>
              <a:buClr>
                <a:schemeClr val="dk2"/>
              </a:buClr>
              <a:buSzPts val="1600"/>
              <a:buChar char="●"/>
            </a:pPr>
            <a:r>
              <a:rPr lang="en">
                <a:solidFill>
                  <a:schemeClr val="dk2"/>
                </a:solidFill>
              </a:rPr>
              <a:t>Still acceptable, budget mattered more to us than raw speed</a:t>
            </a:r>
            <a:endParaRPr>
              <a:solidFill>
                <a:schemeClr val="dk2"/>
              </a:solidFill>
            </a:endParaRPr>
          </a:p>
        </p:txBody>
      </p:sp>
      <p:grpSp>
        <p:nvGrpSpPr>
          <p:cNvPr id="732" name="Google Shape;732;p71"/>
          <p:cNvGrpSpPr/>
          <p:nvPr/>
        </p:nvGrpSpPr>
        <p:grpSpPr>
          <a:xfrm rot="5400000">
            <a:off x="4572013" y="1781091"/>
            <a:ext cx="228589" cy="228622"/>
            <a:chOff x="1688332" y="4135245"/>
            <a:chExt cx="338700" cy="338700"/>
          </a:xfrm>
        </p:grpSpPr>
        <p:sp>
          <p:nvSpPr>
            <p:cNvPr id="733" name="Google Shape;733;p71"/>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734" name="Google Shape;734;p71"/>
            <p:cNvGrpSpPr/>
            <p:nvPr/>
          </p:nvGrpSpPr>
          <p:grpSpPr>
            <a:xfrm rot="-5400000">
              <a:off x="1787014" y="4262191"/>
              <a:ext cx="169598" cy="84809"/>
              <a:chOff x="498725" y="2069800"/>
              <a:chExt cx="205200" cy="102600"/>
            </a:xfrm>
          </p:grpSpPr>
          <p:cxnSp>
            <p:nvCxnSpPr>
              <p:cNvPr id="735" name="Google Shape;735;p71"/>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736" name="Google Shape;736;p71"/>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737" name="Google Shape;737;p71"/>
          <p:cNvSpPr/>
          <p:nvPr/>
        </p:nvSpPr>
        <p:spPr>
          <a:xfrm>
            <a:off x="4468825" y="4713750"/>
            <a:ext cx="389400" cy="3276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738" name="Google Shape;738;p71" title="limitation.mp3">
            <a:hlinkClick r:id="rId3"/>
          </p:cNvPr>
          <p:cNvPicPr preferRelativeResize="0"/>
          <p:nvPr/>
        </p:nvPicPr>
        <p:blipFill>
          <a:blip r:embed="rId4">
            <a:alphaModFix/>
          </a:blip>
          <a:stretch>
            <a:fillRect/>
          </a:stretch>
        </p:blipFill>
        <p:spPr>
          <a:xfrm>
            <a:off x="0" y="4683723"/>
            <a:ext cx="457200" cy="45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